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2e377a26134aa5" /><Relationship Type="http://schemas.openxmlformats.org/officeDocument/2006/relationships/extended-properties" Target="/docProps/app.xml" Id="R90a9fc6403a543d0" /><Relationship Type="http://schemas.openxmlformats.org/officeDocument/2006/relationships/officeDocument" Target="/ppt/presentation.xml" Id="R14b76674f2d641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bd29fcc067403b"/>
  </p:sldMasterIdLst>
  <p:notesMasterIdLst>
    <p:notesMasterId xmlns:r="http://schemas.openxmlformats.org/officeDocument/2006/relationships" r:id="R82891e91f79a47ec"/>
  </p:notesMasterIdLst>
  <p:sldIdLst>
    <p:sldId xmlns:r="http://schemas.openxmlformats.org/officeDocument/2006/relationships" id="256" r:id="Re6cb0cfe60fd4905"/>
    <p:sldId xmlns:r="http://schemas.openxmlformats.org/officeDocument/2006/relationships" id="257" r:id="Rc3866b9246514eea"/>
    <p:sldId xmlns:r="http://schemas.openxmlformats.org/officeDocument/2006/relationships" id="258" r:id="R1a794b71faf54a83"/>
    <p:sldId xmlns:r="http://schemas.openxmlformats.org/officeDocument/2006/relationships" id="259" r:id="Rd052f311b02e43ab"/>
    <p:sldId xmlns:r="http://schemas.openxmlformats.org/officeDocument/2006/relationships" id="260" r:id="R22ba262e0b874131"/>
    <p:sldId xmlns:r="http://schemas.openxmlformats.org/officeDocument/2006/relationships" id="261" r:id="Rb85b6b38a0cb4adc"/>
    <p:sldId xmlns:r="http://schemas.openxmlformats.org/officeDocument/2006/relationships" id="262" r:id="Re03236bb46834135"/>
    <p:sldId xmlns:r="http://schemas.openxmlformats.org/officeDocument/2006/relationships" id="263" r:id="R5537b94d80754efe"/>
    <p:sldId xmlns:r="http://schemas.openxmlformats.org/officeDocument/2006/relationships" id="264" r:id="R536cda77ded74af4"/>
    <p:sldId xmlns:r="http://schemas.openxmlformats.org/officeDocument/2006/relationships" id="265" r:id="Rba3b44e0b01f44c9"/>
    <p:sldId xmlns:r="http://schemas.openxmlformats.org/officeDocument/2006/relationships" id="266" r:id="Rf05b182bffef468f"/>
    <p:sldId xmlns:r="http://schemas.openxmlformats.org/officeDocument/2006/relationships" id="267" r:id="R8b5a7eaa9f4a4d8b"/>
    <p:sldId xmlns:r="http://schemas.openxmlformats.org/officeDocument/2006/relationships" id="268" r:id="R78ba05ecdcc746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ac498b4fc74bb1" /><Relationship Type="http://schemas.openxmlformats.org/officeDocument/2006/relationships/slideMaster" Target="/ppt/slideMasters/slideMaster1.xml" Id="R40bd29fcc067403b" /><Relationship Type="http://schemas.openxmlformats.org/officeDocument/2006/relationships/notesMaster" Target="/ppt/notesMasters/notesMaster1.xml" Id="R82891e91f79a47ec" /><Relationship Type="http://schemas.openxmlformats.org/officeDocument/2006/relationships/presProps" Target="/ppt/presProps.xml" Id="Rb2ad4b94ff4e4cfe" /><Relationship Type="http://schemas.openxmlformats.org/officeDocument/2006/relationships/tableStyles" Target="/ppt/tableStyles.xml" Id="R5817d42bb23a4f87" /><Relationship Type="http://schemas.openxmlformats.org/officeDocument/2006/relationships/slide" Target="/ppt/slides/slide1.xml" Id="Re6cb0cfe60fd4905" /><Relationship Type="http://schemas.openxmlformats.org/officeDocument/2006/relationships/slide" Target="/ppt/slides/slide2.xml" Id="Rc3866b9246514eea" /><Relationship Type="http://schemas.openxmlformats.org/officeDocument/2006/relationships/slide" Target="/ppt/slides/slide3.xml" Id="R1a794b71faf54a83" /><Relationship Type="http://schemas.openxmlformats.org/officeDocument/2006/relationships/slide" Target="/ppt/slides/slide4.xml" Id="Rd052f311b02e43ab" /><Relationship Type="http://schemas.openxmlformats.org/officeDocument/2006/relationships/slide" Target="/ppt/slides/slide5.xml" Id="R22ba262e0b874131" /><Relationship Type="http://schemas.openxmlformats.org/officeDocument/2006/relationships/slide" Target="/ppt/slides/slide6.xml" Id="Rb85b6b38a0cb4adc" /><Relationship Type="http://schemas.openxmlformats.org/officeDocument/2006/relationships/slide" Target="/ppt/slides/slide7.xml" Id="Re03236bb46834135" /><Relationship Type="http://schemas.openxmlformats.org/officeDocument/2006/relationships/slide" Target="/ppt/slides/slide8.xml" Id="R5537b94d80754efe" /><Relationship Type="http://schemas.openxmlformats.org/officeDocument/2006/relationships/slide" Target="/ppt/slides/slide9.xml" Id="R536cda77ded74af4" /><Relationship Type="http://schemas.openxmlformats.org/officeDocument/2006/relationships/slide" Target="/ppt/slides/slide10.xml" Id="Rba3b44e0b01f44c9" /><Relationship Type="http://schemas.openxmlformats.org/officeDocument/2006/relationships/slide" Target="/ppt/slides/slide11.xml" Id="Rf05b182bffef468f" /><Relationship Type="http://schemas.openxmlformats.org/officeDocument/2006/relationships/slide" Target="/ppt/slides/slide12.xml" Id="R8b5a7eaa9f4a4d8b" /><Relationship Type="http://schemas.openxmlformats.org/officeDocument/2006/relationships/slide" Target="/ppt/slides/slide13.xml" Id="R78ba05ecdcc746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0ca28daf78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700f93bd864c1e" /><Relationship Type="http://schemas.openxmlformats.org/officeDocument/2006/relationships/notesMaster" Target="/ppt/notesMasters/notesMaster1.xml" Id="Rd4cb36feb7a240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00898190404195" /><Relationship Type="http://schemas.openxmlformats.org/officeDocument/2006/relationships/notesMaster" Target="/ppt/notesMasters/notesMaster1.xml" Id="R9a1f93bbb6e24d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73248a59894b68" /><Relationship Type="http://schemas.openxmlformats.org/officeDocument/2006/relationships/notesMaster" Target="/ppt/notesMasters/notesMaster1.xml" Id="R793b788882b14f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8d893ef4ae457c" /><Relationship Type="http://schemas.openxmlformats.org/officeDocument/2006/relationships/notesMaster" Target="/ppt/notesMasters/notesMaster1.xml" Id="R9cacff2c9a174c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1b81af1f1a4db0" /><Relationship Type="http://schemas.openxmlformats.org/officeDocument/2006/relationships/notesMaster" Target="/ppt/notesMasters/notesMaster1.xml" Id="R7be6c2a60afb42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d8c30db8f4208" /><Relationship Type="http://schemas.openxmlformats.org/officeDocument/2006/relationships/notesMaster" Target="/ppt/notesMasters/notesMaster1.xml" Id="R6d344da3396b45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029e75ace046bf" /><Relationship Type="http://schemas.openxmlformats.org/officeDocument/2006/relationships/notesMaster" Target="/ppt/notesMasters/notesMaster1.xml" Id="R9bf1b3c599424a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1644644cc54f04" /><Relationship Type="http://schemas.openxmlformats.org/officeDocument/2006/relationships/notesMaster" Target="/ppt/notesMasters/notesMaster1.xml" Id="R500b94b691ac44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01e84fdabe4c15" /><Relationship Type="http://schemas.openxmlformats.org/officeDocument/2006/relationships/notesMaster" Target="/ppt/notesMasters/notesMaster1.xml" Id="R2363e81b105c4e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d91446393043c0" /><Relationship Type="http://schemas.openxmlformats.org/officeDocument/2006/relationships/notesMaster" Target="/ppt/notesMasters/notesMaster1.xml" Id="R13aa0f3ca0a54d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e7079448de4be3" /><Relationship Type="http://schemas.openxmlformats.org/officeDocument/2006/relationships/notesMaster" Target="/ppt/notesMasters/notesMaster1.xml" Id="Re26da08b860640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8b4038a5eb48b9" /><Relationship Type="http://schemas.openxmlformats.org/officeDocument/2006/relationships/notesMaster" Target="/ppt/notesMasters/notesMaster1.xml" Id="R43eb131b89dc48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357cdf02854f3c" /><Relationship Type="http://schemas.openxmlformats.org/officeDocument/2006/relationships/notesMaster" Target="/ppt/notesMasters/notesMaster1.xml" Id="R0f305d82021d4f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seconds. Introduce carrier dispatch recovery. Demonstration records are synthetic. Show actual app immediately after this opening. No customer records are published.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Explain a dispatcher coordinating resource commitments. This is a scenario, not an estimate of industry-wide cost or frequency.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80 seconds. Switch to live cloud film-demo or downloaded recording. Record expected departure and inspect the affected next load. Sources: actual Rhode cloud browser capture, docs/evidence/cloud-auth-smoke.json. Visual: September 10 design-film cloud recording, 01-dock-delay-end.png, exact disruption strip. 12:00 planned departure, 13:30 expected departure, 12:15 next pickup, ET. Final frozen web source: capture-final/delay-impact.png, expanded real delay record in design-final synthetic carrier, September 10 2026. Final v9 source: /tmp/roadstar-polish/final-capture/delay-impact.png, deployment 00017-bj6, design-polish-final carrier. Actual recorded delay; same 12:00 / 13:30 / 12:15 ET scenario. Third-pass image: actual expanded delay-impact capture from frozen cloud 00020-8l2, cropped to the delay evidence strip; synthetic rehearsal.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65 seconds. Show current assignment and proposed D02/T102/V102. Approval rechecks versions and availability, then commits reservations and driver offer atomically. Source: tests/postgres.test.ts and actual cloud recovery verification. Visual: exact modal frame at 16 seconds from the new design-film 02-recovery-approval recording. Actual proposal and approval API responses succeeded. Final frozen web source: capture-final/approval-review.png, exact displayed consequential approval dialog in design-final carrier. The capture precedes the explicit confirmation. Final v9 capture: /tmp/roadstar-polish/capture/approval-review.png. Current and proposed drivers and equipment are shown before confirmation. Driver acceptance is separate. Checks and assumptions remain available in the disclosure. Final v9 source supersedes previous frame: /tmp/roadstar-polish/final-capture/approval-review.png, deployment 00017-bj6. Same explicit current-to-proposed dialog before confirmation. Third-pass image: actual approval-review capture from frozen cloud 00020-8l2, cropped to the dialog. Driver acceptance remains a separate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65 seconds. Native API35 Android emulator testing: Firebase login, offline acceptance, force-stop, restored session/downloaded trip/note/pending key, reconnect to accepted version2. Physical device background location and native iOS remain unverified. Current visual: actual September 10 Android API35 emulator Today screen. RS1043 accepted, pickup already completed, delivery is next. The screenshot does not claim a newly completed delivery or a new offline acceptance test. Density refresh: final native screenshot mobile/34-today-frozen.png, consistent Rhode case and compact header. State remains accepted with delivery next. Final source freeze uses mobile/41-today-final.png. Compact one-row identity header and explicit synthetic scenario label. Original facility values remain unchanged underneath their shortened display labels. Final review-pass capture: mobile/56-today-frozen-review-pass.png. Same accepted trip state, pickup completed and delivery next; this capture is not new offline-acceptance verification. Final v9 capture supersedes the prior frame: mobile/60-today-density-final.png. Compact single-row header; accepted trip and delivery-next state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seconds. Show original synthetic PDF and reviewed fields. Source hash/model output retained. Same-stop arrival/departure samples and configured terms produce draft. Human approval retains draft and creates new revision; no payment. Source: docs/evidence/cloud-document-extraction.json and actual cloud billing capture. Visual: retained actual synthetic cloud billing panel, cropped to the stop record and draft/approved revisions without changing content. Density refresh source: cloud-current/web-billing-panel.png. Same approved revision and original draft, original amounts and observed precision preserved.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seconds. Real OR-Tools with Valhalla truck matrix produced two LTL pickups and two deliveries. Cloud planning-demo approved, accepted and completed global order. Three vehicle-resource reservations stay active until every load completes. Synthetic26-pallet allowance disclosed. Source: docs/evidence/cloud-planning-verification.json and tests/group-road.test.ts. Visual: retained actual planning-demo completed two-load, four-stop manifest in the redesigned UI. Density refresh source: cloud-current/web-completed-manifest.png. Same actual completed two-load/four-stop fixture.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seconds. Imported15197 rows locally only.82 exact duplicates in Dispatch. Source originals, missing fields and historical dates retained. No customer rows shown or uploaded. Source: docs/evidence/workbook-import.json.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seconds. Cloud Run Fastify owns state changes. Dedicated PG16/PostGIS owns truth; ORTools/Valhalla compute; Vertex extracts; independent simulator posts synthetic events. API accepts no AI approval. See infra/gcp/README.md and services/api/src/store.ts. Third-pass architecture clarifies that OR-Tools/Valhalla proposals and Gemini document extraction are supporting capabilities used by the API. The lower section expresses those capabilities without depicting a new transaction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seconds. Cloud benchmark: 524 telemetry and synchronization pairs, no failures, acknowledged-write-to-snapshot p95 5,448 ms. A separate five-pair local browser comparison observed eight scripted activations and two requests for manual resource assembly versus two activations and one request for ranked recovery. Both selected the same feasible resources; ranked recovery retained the rejected HOS reason. These are after-login automation counts and local execution timings, not dispatcher task time, carrier savings or production latency. Sources: docs/evidence/cloud-load-test-131-after-concurrency.json and docs/evidence/workflow-comparison-2026-09-12/verification.json. HOS remains a planning aid rather than a certified ELD; physical Android and native iOS remain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seconds. Ask carrier to evaluate complete recovery workflow with permissioned operational input. Physicalhardwarecurrentlyunavailable. No invented customer adoption, measuredsavings or revenue. Full testinginstructions in local submission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120 seconds. Optional2 minutes. PostgreSQL btree_gist exclusion onresourceperiods. Commands have stableidempotencykey+expectedversion; staleproposal yields conflictbeforemutation. Per-carrier exclusivecommands sharedtelemetrytriplocks; eventinsertionlock ensurescommitordercursor. Explain rollback boundaries and carrier membership.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180 seconds. Optional3 minutes. Show the actual matched Rhode comparison at shared T+40:00: baseline and 10%-speed Highway401 slowdown branches each retain2,401 acknowledged observations; the displayed progress gap is27.657km and deterministic modeled finish delta is26m46s. Matching binds route, source, clock, seed, speed, dwell and stops while excluding the declared intervention. Exact at-or-before observations are used without interpolation. Synthetic Valhalla route and modeled slowdown; no live-traffic, measured-savings or certified-GPS claim. Sources: docs/3d-slowdown-comparison.md and docs/evidence/3d-slowdown-comparison-2026-09-12/verification.json.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source: actual Rhode application captures where shown. Generated road sculpture is illustrative brand artwork, not geographic or route evidence. Design system: docs/design/precision-transport.md. Current accepted check counts: 106 backend, 50 native mobile. Core slides 1–11 total 10 minutes. Appendix slides 12–13 total 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ba36a06544b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0e3a7272874dc3" /><Relationship Type="http://schemas.openxmlformats.org/officeDocument/2006/relationships/slideLayout" Target="/ppt/slideLayouts/slideLayout1.xml" Id="Rce96fd44fc5245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96fd44fc5245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e8ef2696e48cf" /><Relationship Type="http://schemas.openxmlformats.org/officeDocument/2006/relationships/image" Target="/ppt/media/image.png" Id="R7dcecde3a1994d54" /><Relationship Type="http://schemas.openxmlformats.org/officeDocument/2006/relationships/image" Target="/ppt/media/image2.png" Id="R279304418aed4d64" /><Relationship Type="http://schemas.openxmlformats.org/officeDocument/2006/relationships/image" Target="/ppt/media/image.svg" Id="R3e6ec2fbc99b4748" /><Relationship Type="http://schemas.openxmlformats.org/officeDocument/2006/relationships/notesSlide" Target="/ppt/notesSlides/notesSlide1.xml" Id="R0d3943c07ef645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fefa0b0f9430d" /><Relationship Type="http://schemas.openxmlformats.org/officeDocument/2006/relationships/notesSlide" Target="/ppt/notesSlides/notesSlide2.xml" Id="Rb50165bd785141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b182eca3d4874" /><Relationship Type="http://schemas.openxmlformats.org/officeDocument/2006/relationships/image" Target="/ppt/media/image3.png" Id="R38b9471356754826" /><Relationship Type="http://schemas.openxmlformats.org/officeDocument/2006/relationships/notesSlide" Target="/ppt/notesSlides/notesSlide3.xml" Id="R5aa4c1956d874c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2267900f94d30" /><Relationship Type="http://schemas.openxmlformats.org/officeDocument/2006/relationships/image" Target="/ppt/media/image4.png" Id="Rd8049f327c294d23" /><Relationship Type="http://schemas.openxmlformats.org/officeDocument/2006/relationships/notesSlide" Target="/ppt/notesSlides/notesSlide4.xml" Id="Rf69f700e5b4e4b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57ecf3fb24bb3" /><Relationship Type="http://schemas.openxmlformats.org/officeDocument/2006/relationships/image" Target="/ppt/media/image5.png" Id="R5d700b608424487c" /><Relationship Type="http://schemas.openxmlformats.org/officeDocument/2006/relationships/notesSlide" Target="/ppt/notesSlides/notesSlide5.xml" Id="R5c7b605b8e3b49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7eb6b72d746ad" /><Relationship Type="http://schemas.openxmlformats.org/officeDocument/2006/relationships/image" Target="/ppt/media/image6.png" Id="R15f6b0b8f962473a" /><Relationship Type="http://schemas.openxmlformats.org/officeDocument/2006/relationships/notesSlide" Target="/ppt/notesSlides/notesSlide6.xml" Id="R12ebd6a369c640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826c1d3b3481b" /><Relationship Type="http://schemas.openxmlformats.org/officeDocument/2006/relationships/image" Target="/ppt/media/image7.png" Id="R5ee1d05f4ba54dba" /><Relationship Type="http://schemas.openxmlformats.org/officeDocument/2006/relationships/notesSlide" Target="/ppt/notesSlides/notesSlide7.xml" Id="R1292402db16841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cb400b1b14a88" /><Relationship Type="http://schemas.openxmlformats.org/officeDocument/2006/relationships/notesSlide" Target="/ppt/notesSlides/notesSlide8.xml" Id="R9f16101a138040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6ad0761dc49ed" /><Relationship Type="http://schemas.openxmlformats.org/officeDocument/2006/relationships/notesSlide" Target="/ppt/notesSlides/notesSlide9.xml" Id="R44bc68f590f546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d493f90e6419d" /><Relationship Type="http://schemas.openxmlformats.org/officeDocument/2006/relationships/notesSlide" Target="/ppt/notesSlides/notesSlide10.xml" Id="Raeaf41211bea4a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6acd73d6c4ee3" /><Relationship Type="http://schemas.openxmlformats.org/officeDocument/2006/relationships/image" Target="/ppt/media/image8.png" Id="R25ea09a68dc440fd" /><Relationship Type="http://schemas.openxmlformats.org/officeDocument/2006/relationships/notesSlide" Target="/ppt/notesSlides/notesSlide11.xml" Id="Rc4dc465381264a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a98027a974083" /><Relationship Type="http://schemas.openxmlformats.org/officeDocument/2006/relationships/notesSlide" Target="/ppt/notesSlides/notesSlide12.xml" Id="Ra1c4ea4c240a47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73e210cdb4589" /><Relationship Type="http://schemas.openxmlformats.org/officeDocument/2006/relationships/image" Target="/ppt/media/image9.png" Id="Rf1a7c14a217f4b45" /><Relationship Type="http://schemas.openxmlformats.org/officeDocument/2006/relationships/notesSlide" Target="/ppt/notesSlides/notesSlide13.xml" Id="R249fce71d3f948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0A3D3-71D8-46B5-B52B-3C44D915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ecde3a1994d5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304418aed4d64">
            <a:extLst>
              <a:ext uri="{96DAC541-7B7A-43D3-8B79-37D633B846F1}">
                <asvg:svgBlip xmlns:asvg="http://schemas.microsoft.com/office/drawing/2016/SVG/main" r:embed="R3e6ec2fbc99b47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933450"/>
            <a:ext cx="542925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B0A93-E279-4EB0-AC5B-A770E1E6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14375"/>
            <a:ext cx="5715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682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Rhode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3EED6-6AE1-45DB-948B-598365DC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Dispatch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4AC3C-48D4-4690-902E-7B328B64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452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Carrier decisions. Driver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F9578-B772-42D0-A66B-AC6FC608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RoadStar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5541079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0B192-91BE-42D7-B5BA-7D16AD91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3BD2C-F8A8-4567-9649-0B0E3D3D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51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A dock delay</a:t>
            </a:r>
          </a:p>
          <a:p xmlns:a="http://schemas.openxmlformats.org/drawingml/2006/main">
            <a:pPr>
              <a:defRPr sz="51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51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reaches the</a:t>
            </a:r>
          </a:p>
          <a:p xmlns:a="http://schemas.openxmlformats.org/drawingml/2006/main">
            <a:pPr>
              <a:defRPr sz="51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51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next pickup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74095-5187-45E4-B9EB-83684900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552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 dispatcher must reconnect the next assignment with available resources.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B3C5B-D632-49E4-96D6-145B68A2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049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Dock delay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4AEB0-4AB7-4457-993C-2B288B97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575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7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Next pickup</a:t>
            </a:r>
          </a:p>
        </p:txBody>
      </p:sp>
      <p:cxnSp>
        <p:nvCxnSpPr>
          <p:cNvPr id="15" name=""/>
          <p:cNvCxnSpPr>
            <a:stCxn xmlns:a="http://schemas.openxmlformats.org/drawingml/2006/main" id="4" idx="1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96200" y="1838325"/>
            <a:ext cx="0" cy="15525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E65C32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4828E-4D75-4943-9E19-84D14FE0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05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Current truck is still committed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3EDC9-C2CB-4A65-A59D-A4A21703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05250"/>
            <a:ext cx="2952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Driver</a:t>
            </a:r>
          </a:p>
          <a:p xmlns:a="http://schemas.openxmlformats.org/drawingml/2006/main">
            <a:pPr>
              <a:defRPr sz="21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Truck</a:t>
            </a:r>
          </a:p>
          <a:p xmlns:a="http://schemas.openxmlformats.org/drawingml/2006/main">
            <a:pPr>
              <a:defRPr sz="21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Trailer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11D80-0392-4188-BD4C-176AD8A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92455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Illustrative dispatch scenario</a:t>
            </a:r>
          </a:p>
        </p:txBody>
      </p:sp>
    </p:spTree>
    <p:extLst>
      <p:ext uri="{BB962C8B-B14F-4D97-AF65-F5344CB8AC3E}">
        <p14:creationId xmlns:p14="http://schemas.microsoft.com/office/powerpoint/2010/main" val="1170040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454D9-6C53-44C9-84A4-86E64DC7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D10BF-C675-42D2-8D60-295E32C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Recovery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3D502-03C7-4156-B071-FAA99358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477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 delayed departure makes the next assignment visible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9471356754826"/>
          <a:stretch xmlns:a="http://schemas.openxmlformats.org/drawingml/2006/main"/>
        </p:blipFill>
        <p:spPr>
          <a:xfrm xmlns:a="http://schemas.openxmlformats.org/drawingml/2006/main">
            <a:off x="676275" y="2000250"/>
            <a:ext cx="10839450" cy="1676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6F666-AD9A-4632-87BA-9BADF59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76700"/>
            <a:ext cx="3438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51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12:00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F145E-684D-4945-9E4E-86287144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38725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Planned departure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ABB06-66A5-4629-AB72-827A2590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76700"/>
            <a:ext cx="3438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5100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13:30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CE6DB-7F40-4F47-B77A-B2F5C0D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387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Expected departure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DEA7A-F5EF-4E05-8E0D-FD733FDB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3152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51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12:15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00434-8732-4C04-B918-154489DF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3872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Next pickup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BB1A9-46F9-464C-AAC3-82E3D51D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007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Synthetic scenario. Times in ET. Actual Ontario truck routing supports the recovery.</a:t>
            </a:r>
          </a:p>
        </p:txBody>
      </p:sp>
    </p:spTree>
    <p:extLst>
      <p:ext uri="{BB962C8B-B14F-4D97-AF65-F5344CB8AC3E}">
        <p14:creationId xmlns:p14="http://schemas.microsoft.com/office/powerpoint/2010/main" val="1127152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65961-70AD-4E13-B7D8-5216D451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99C32-7A85-4928-89A0-C5371ED7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412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Approval</a:t>
            </a:r>
          </a:p>
          <a:p xmlns:a="http://schemas.openxmlformats.org/drawingml/2006/main">
            <a:pPr>
              <a:defRPr sz="412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412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against current</a:t>
            </a:r>
          </a:p>
          <a:p xmlns:a="http://schemas.openxmlformats.org/drawingml/2006/main">
            <a:pPr>
              <a:defRPr sz="412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412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C5E12-E434-42F9-A883-EECA3DF8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The server rechecks the proposal at the moment of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0E07C-6DCB-42E3-B81C-65D31D35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720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Versions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5AC5C-B2BA-4431-BDEB-D40B5D4F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102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Availability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90421-E3B1-4342-8B45-1E567D95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483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Atomic reservations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49f327c294d23"/>
          <a:stretch xmlns:a="http://schemas.openxmlformats.org/drawingml/2006/main"/>
        </p:blipFill>
        <p:spPr>
          <a:xfrm xmlns:a="http://schemas.openxmlformats.org/drawingml/2006/main">
            <a:off x="5600700" y="1028700"/>
            <a:ext cx="5905500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10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2B7ED-7888-4047-A8BD-5F410FF1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5FAA5-A17B-4579-BFDE-A747B892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85800"/>
            <a:ext cx="666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472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The driver</a:t>
            </a:r>
          </a:p>
          <a:p xmlns:a="http://schemas.openxmlformats.org/drawingml/2006/main">
            <a:pPr>
              <a:defRPr sz="472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472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gets one clear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0C567-F250-482F-8CC4-9E9F5EB2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336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The same dispatch reaches a focused native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C5D6B-8266-43FB-9039-9EEB5344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671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DD182-F776-452C-BCAA-F4A62DED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867150"/>
            <a:ext cx="4619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Manifest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8EABD-633D-49C3-A686-96E6DC5B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91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9A61A-B745-40EC-A494-ACE6871A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591050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Acceptance survives interruption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F017D-C5AD-4F02-9F86-30C21ACC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3C96B-24DA-428B-9653-79862EC7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3149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Dispatch sees confirmation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00b608424487c"/>
          <a:stretch xmlns:a="http://schemas.openxmlformats.org/drawingml/2006/main"/>
        </p:blipFill>
        <p:spPr>
          <a:xfrm xmlns:a="http://schemas.openxmlformats.org/drawingml/2006/main">
            <a:off x="7946708" y="266700"/>
            <a:ext cx="2794635" cy="6210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5D7F7-27B6-428C-B77E-95B2E200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7697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Android emulator verified. Physical phone and native iOS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885868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7BA30-18DD-4945-B396-8DFE067D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D4276-7110-4D27-BFB4-AE1AC7E9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Documents and detention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A5738-D0CB-402E-A9F6-2294EFE9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763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 reviewed revision keeps the original draft in view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6b0b8f962473a"/>
          <a:stretch xmlns:a="http://schemas.openxmlformats.org/drawingml/2006/main"/>
        </p:blipFill>
        <p:spPr>
          <a:xfrm xmlns:a="http://schemas.openxmlformats.org/drawingml/2006/main">
            <a:off x="836768" y="2085975"/>
            <a:ext cx="10518464" cy="4057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682E7-C89F-42A6-970D-BBE88541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9825"/>
            <a:ext cx="1038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Observed samples require review. Billing approval does not initiate payment.</a:t>
            </a:r>
          </a:p>
        </p:txBody>
      </p:sp>
    </p:spTree>
    <p:extLst>
      <p:ext uri="{BB962C8B-B14F-4D97-AF65-F5344CB8AC3E}">
        <p14:creationId xmlns:p14="http://schemas.microsoft.com/office/powerpoint/2010/main" val="662776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0BC3D-0955-45F2-AFAE-9AFD575F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962ED-5BE1-4793-9856-362B26F5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619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660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2 loads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B2741-5EA0-42CF-A751-0AF4F0D0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5715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4 ordered stops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3CFA2-523D-4E8D-B98E-C4BC6B69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One vehicle pairing</a:t>
            </a:r>
          </a:p>
          <a:p xmlns:a="http://schemas.openxmlformats.org/drawingml/2006/main">
            <a:pPr>
              <a:defRPr sz="22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One approval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1d05f4ba54dba"/>
          <a:stretch xmlns:a="http://schemas.openxmlformats.org/drawingml/2006/main"/>
        </p:blipFill>
        <p:spPr>
          <a:xfrm xmlns:a="http://schemas.openxmlformats.org/drawingml/2006/main">
            <a:off x="6000750" y="920413"/>
            <a:ext cx="5667375" cy="498859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6EE62-4F5A-4BCA-BC0E-B4C5AA1B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732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Reservations stay active until every load completes.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67115-054E-4F10-BB3D-CB9FBF06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Synthetic pallet capacity disclosed</a:t>
            </a:r>
          </a:p>
        </p:txBody>
      </p:sp>
    </p:spTree>
    <p:extLst>
      <p:ext uri="{BB962C8B-B14F-4D97-AF65-F5344CB8AC3E}">
        <p14:creationId xmlns:p14="http://schemas.microsoft.com/office/powerpoint/2010/main" val="19223322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EE911-3147-4819-A238-EE4D6561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CF1C7-CDA7-4842-9B7C-310E415D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All five sheets retain lineage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B74FA-14C9-4B31-8639-B06C4D1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42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02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802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15,197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1D356-32DD-4622-B74E-6674D168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19475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24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source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E1ECA-90CD-4BCB-8603-8B1DD6AE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19600"/>
            <a:ext cx="600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A0998-A1C3-4041-9B85-66F44429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474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exact Dispatch duplicates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C2186-9976-40F1-847D-B1C76E9B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86325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Historical provenance preserved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Private source data stays local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467475" y="1714500"/>
          <a:ext xmlns:a="http://schemas.openxmlformats.org/drawingml/2006/main" cx="50292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88595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666962"/>
                          </a:solidFill>
                          <a:latin typeface="Manrope"/>
                          <a:ea typeface="Manrope"/>
                          <a:cs typeface="Manrope"/>
                        </a:rPr>
                        <a:t>Sheet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F5F3ED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666962"/>
                          </a:solidFill>
                          <a:latin typeface="Manrope"/>
                          <a:ea typeface="Manrope"/>
                          <a:cs typeface="Manrope"/>
                        </a:rPr>
                        <a:t>Rows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F5F3ED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Tlorder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4,031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Dispatch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10,479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Driver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131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Trucks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131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DCDDD5"/>
                      </a:solidFill>
                      <a:prstDash val="solid"/>
                    </a:lnB>
                    <a:solidFill>
                      <a:srgbClr val="F5F3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Trailers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F5F3ED"/>
                      </a:solidFill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242729"/>
                          </a:solidFill>
                          <a:latin typeface="Manrope"/>
                          <a:ea typeface="Manrope"/>
                          <a:cs typeface="Manrope"/>
                        </a:rPr>
                        <a:t>425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F5F3ED"/>
                      </a:solidFill>
                    </a:lnL>
                    <a:lnR w="9525">
                      <a:solidFill>
                        <a:srgbClr val="F5F3ED"/>
                      </a:solidFill>
                    </a:lnR>
                    <a:lnT w="9525">
                      <a:solidFill>
                        <a:srgbClr val="DCDDD5"/>
                      </a:solidFill>
                    </a:lnT>
                    <a:lnB w="9525">
                      <a:solidFill>
                        <a:srgbClr val="F5F3ED"/>
                      </a:solidFill>
                    </a:lnB>
                    <a:solidFill>
                      <a:srgbClr val="F5F3ED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523D3-5E8F-43DE-824E-DB66D1B1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00775"/>
            <a:ext cx="1038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Public preview uses labeled synthetic operational scenarios.</a:t>
            </a:r>
          </a:p>
        </p:txBody>
      </p:sp>
    </p:spTree>
    <p:extLst>
      <p:ext uri="{BB962C8B-B14F-4D97-AF65-F5344CB8AC3E}">
        <p14:creationId xmlns:p14="http://schemas.microsoft.com/office/powerpoint/2010/main" val="6637705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C841A-A931-452B-83A9-617AB299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2FFBD-E2E1-4484-AEC6-4824BF28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One operational 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33011-E8B8-401A-99C6-90E326D0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14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CLIENTS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FCA79-CD41-4CC0-95F3-3926CC05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14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34987-C535-4E07-9C40-2F3D2761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14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75CC4-BA33-44A6-9AD3-4B38276D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Web + 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0F98D-7B43-4826-ACB4-17E60ED8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676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Fastify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D09D7-983E-4621-AFB5-8069F607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574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2475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PostgreSQL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81375" y="2781300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962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67575" y="2781300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65C32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B9D02-2D5A-4957-A1A2-97E5F97C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90900"/>
            <a:ext cx="304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React dispatcher UI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Expo driver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BC3FC-69D8-4BEA-9957-0F555D2C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90900"/>
            <a:ext cx="3238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Firebase identity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Carrier membership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Validated commands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2082F-71E6-4C6B-AA3B-5CE2473D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390900"/>
            <a:ext cx="2714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Versions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Reservations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6E0D7-A1CB-4E15-9E10-5B3A1079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57775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D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EAB12-EB35-4385-AC23-6EB3F66A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Supporting capabilities used by the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959F7-E82D-4F93-8CC3-40FA89B0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5886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Proposals: OR-Tools + Valhalla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BA463-E609-4420-A191-D2674E00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673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Documents: Gemini extraction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E5508-D955-410D-A5D8-6B7447CB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007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Independent replay clock · Approval remains an explicit command.</a:t>
            </a:r>
          </a:p>
        </p:txBody>
      </p:sp>
    </p:spTree>
    <p:extLst>
      <p:ext uri="{BB962C8B-B14F-4D97-AF65-F5344CB8AC3E}">
        <p14:creationId xmlns:p14="http://schemas.microsoft.com/office/powerpoint/2010/main" val="16731380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7CC24-5298-40FC-A47F-AE88238F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6C660-F2B4-431E-9FFA-DBCF51E6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Measured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FC8E5-9198-42D2-95E3-228E8769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590675"/>
            <a:ext cx="62579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525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9525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5.4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E91C3-97D1-4ABD-85B8-EAAF97B5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9950"/>
            <a:ext cx="6143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p95 acknowledgement-to-snapshot lag</a:t>
            </a:r>
          </a:p>
          <a:p xmlns:a="http://schemas.openxmlformats.org/drawingml/2006/main">
            <a:pPr>
              <a:defRPr sz="21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in the 131-driver cloud burst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4ACA1-029D-4AE0-AB0A-AAF47582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669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65C32"/>
                </a:solidFill>
                <a:latin typeface="Manrope"/>
                <a:ea typeface="Manrope"/>
                <a:cs typeface="Manrope"/>
              </a:defRPr>
            </a:pPr>
            <a:r>
              <a:rPr sz="4950" b="1">
                <a:solidFill>
                  <a:srgbClr val="E65C32"/>
                </a:solidFill>
                <a:latin typeface="Manrope"/>
                <a:ea typeface="Manrope"/>
                <a:cs typeface="Manrope"/>
              </a:rPr>
              <a:t>524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3F019-550D-4027-97CD-5496F73D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3524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telemetry + synchronization pairs</a:t>
            </a:r>
          </a:p>
          <a:p xmlns:a="http://schemas.openxmlformats.org/drawingml/2006/main">
            <a:pPr>
              <a:defRPr sz="18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Zero failed commands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C433E-70E3-4B1D-8AB9-8ADF1B2E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0"/>
            <a:ext cx="6305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Manual 8 / ranked 2 activations</a:t>
            </a:r>
          </a:p>
          <a:p xmlns:a="http://schemas.openxmlformats.org/drawingml/2006/main">
            <a:pPr>
              <a:defRPr sz="18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Manual 2 / ranked 1 recovery requests</a:t>
            </a:r>
          </a:p>
          <a:p xmlns:a="http://schemas.openxmlformats.org/drawingml/2006/main">
            <a:pPr>
              <a:defRPr sz="18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Five matched synthetic browser pairs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BCF05-62E8-4E7E-9972-5B88B1D0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76950"/>
            <a:ext cx="630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After login. Scripted counts, not human task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2DD5F-CE5A-4D5B-AE5A-C9E6CA05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95825"/>
            <a:ext cx="3514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Physical background location and native iOS still need testing.</a:t>
            </a:r>
          </a:p>
          <a:p xmlns:a="http://schemas.openxmlformats.org/drawingml/2006/main">
            <a:pPr>
              <a:defRPr sz="172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Declared duty budgets are not a certified ELD.</a:t>
            </a:r>
          </a:p>
        </p:txBody>
      </p:sp>
    </p:spTree>
    <p:extLst>
      <p:ext uri="{BB962C8B-B14F-4D97-AF65-F5344CB8AC3E}">
        <p14:creationId xmlns:p14="http://schemas.microsoft.com/office/powerpoint/2010/main" val="6632977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A1B9F-D312-4660-A5EE-162362D1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11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a09a68dc440f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F434F-2956-43D9-98BE-73E3716B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66750"/>
            <a:ext cx="6858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495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Next carrier</a:t>
            </a:r>
          </a:p>
          <a:p xmlns:a="http://schemas.openxmlformats.org/drawingml/2006/main">
            <a:pPr>
              <a:defRPr sz="495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495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E5083-AE93-42A6-B678-63C32313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90875"/>
            <a:ext cx="5857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Physical device validation</a:t>
            </a:r>
          </a:p>
          <a:p xmlns:a="http://schemas.openxmlformats.org/drawingml/2006/main">
            <a:pPr>
              <a:defRPr sz="2025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Carrier inputs and facility review</a:t>
            </a:r>
          </a:p>
          <a:p xmlns:a="http://schemas.openxmlformats.org/drawingml/2006/main">
            <a:pPr>
              <a:defRPr sz="2025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Measured dispatcher and driver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C38B8-03F0-4A76-8204-FE73CF25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roadstar-web-739889188415.us-central1.run.app</a:t>
            </a:r>
          </a:p>
        </p:txBody>
      </p:sp>
    </p:spTree>
    <p:extLst>
      <p:ext uri="{BB962C8B-B14F-4D97-AF65-F5344CB8AC3E}">
        <p14:creationId xmlns:p14="http://schemas.microsoft.com/office/powerpoint/2010/main" val="9486742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67550-19C7-4AC7-B5D7-20622F69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37C71-2CEE-4E14-B51C-CB7F8234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Concurrent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4421A-C49B-40EA-B1D1-5922A192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 stable command key and expected version protect the same intent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3353B-D1A2-4C3E-8516-53DC122A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Command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A2FDB-76E9-40F0-8EC0-BB610307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4795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2729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242729"/>
                </a:solidFill>
                <a:latin typeface="Manrope"/>
                <a:ea typeface="Manrope"/>
                <a:cs typeface="Manrope"/>
              </a:rPr>
              <a:t>Recheck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F1929-27A1-4F36-A9C7-DA0F12B7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C3716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AC3716"/>
                </a:solidFill>
                <a:latin typeface="Manrope"/>
                <a:ea typeface="Manrope"/>
                <a:cs typeface="Manrope"/>
              </a:rPr>
              <a:t>Commit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24200" y="2895600"/>
            <a:ext cx="15144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CDDD5"/>
            </a:solidFill>
            <a:prstDash val="soli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81850" y="289560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65C32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CD15D-A694-4976-804A-A994CE99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Identity and version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Stable idempotency 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83554-552A-4700-8E25-56177ACA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09975"/>
            <a:ext cx="3324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Current availability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Resource exclusion 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156BE-D08F-473B-BC73-97FCEF8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9975"/>
            <a:ext cx="28860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Atomic reservations</a:t>
            </a:r>
          </a:p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Commit-ordered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ECC5B-4CB8-4AFB-9D90-B27229FB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673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962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666962"/>
                </a:solidFill>
                <a:latin typeface="Manrope"/>
                <a:ea typeface="Manrope"/>
                <a:cs typeface="Manrope"/>
              </a:rPr>
              <a:t>A stale proposal conflicts before mutation. A repeated key returns its original result.</a:t>
            </a:r>
          </a:p>
        </p:txBody>
      </p:sp>
    </p:spTree>
    <p:extLst>
      <p:ext uri="{BB962C8B-B14F-4D97-AF65-F5344CB8AC3E}">
        <p14:creationId xmlns:p14="http://schemas.microsoft.com/office/powerpoint/2010/main" val="419991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9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54A09-FB93-4384-867B-480C59B5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9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F0492-9F5B-4199-9B84-F471DBA2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Matched Highway 401 slowdown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11379-33E7-4CC5-AC04-B741A65E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38250"/>
            <a:ext cx="5191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Same route, seed, clock, dwell and source · only the road intervention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37F9C-522E-44C5-9944-E060898B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405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2,401 ×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9E275-9F16-4CEA-8025-33D94904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146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acknowledged observations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B05E6-B9A3-4CF5-8F48-BAE88842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65C32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E65C32"/>
                </a:solidFill>
                <a:latin typeface="Manrope"/>
                <a:ea typeface="Manrope"/>
                <a:cs typeface="Manrope"/>
              </a:rPr>
              <a:t>+27.657 km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699A4-3807-4DA8-B189-B5869635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481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progress gap at T+40:00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28A3D-1364-4E47-8E54-DCB60BD4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95825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3ED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F5F3ED"/>
                </a:solidFill>
                <a:latin typeface="Manrope"/>
                <a:ea typeface="Manrope"/>
                <a:cs typeface="Manrope"/>
              </a:rPr>
              <a:t>+26m46s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0FFBC-251F-408C-B838-3B4CC762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625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modeled finish delta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950B1-393F-451F-BDCD-67B92E5D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531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Exact at-or-before samples · no interpolation</a:t>
            </a:r>
          </a:p>
          <a:p xmlns:a="http://schemas.openxmlformats.org/drawingml/2006/main">
            <a:pPr>
              <a:defRPr sz="1350" b="0">
                <a:solidFill>
                  <a:srgbClr val="BFC2BA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BFC2BA"/>
                </a:solidFill>
                <a:latin typeface="Manrope"/>
                <a:ea typeface="Manrope"/>
                <a:cs typeface="Manrope"/>
              </a:rPr>
              <a:t>Synthetic route and slowdown; no live-traffic claim.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7c14a217f4b45"/>
          <a:stretch xmlns:a="http://schemas.openxmlformats.org/drawingml/2006/main"/>
        </p:blipFill>
        <p:spPr>
          <a:xfrm xmlns:a="http://schemas.openxmlformats.org/drawingml/2006/main">
            <a:off x="6162675" y="2849610"/>
            <a:ext cx="5219700" cy="20922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81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2026-09-13T16:40:57.9250000Z</dcterms:created>
  <dcterms:modified xsi:type="dcterms:W3CDTF">2026-09-13T16:40:57.9250000Z</dcterms:modified>
</coreProperties>
</file>