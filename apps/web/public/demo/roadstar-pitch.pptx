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a3b00a1e17341b4" /><Relationship Type="http://schemas.openxmlformats.org/officeDocument/2006/relationships/extended-properties" Target="/docProps/app.xml" Id="R4521e93dd933401e" /><Relationship Type="http://schemas.openxmlformats.org/officeDocument/2006/relationships/officeDocument" Target="/ppt/presentation.xml" Id="R65c7e7e318704df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1999591c7e4c98"/>
  </p:sldMasterIdLst>
  <p:notesMasterIdLst>
    <p:notesMasterId xmlns:r="http://schemas.openxmlformats.org/officeDocument/2006/relationships" r:id="R6d2bf2df96e64c4a"/>
  </p:notesMasterIdLst>
  <p:sldIdLst>
    <p:sldId xmlns:r="http://schemas.openxmlformats.org/officeDocument/2006/relationships" id="256" r:id="R754f55c66b6f4abc"/>
    <p:sldId xmlns:r="http://schemas.openxmlformats.org/officeDocument/2006/relationships" id="257" r:id="Re63b5571f5f44cf8"/>
    <p:sldId xmlns:r="http://schemas.openxmlformats.org/officeDocument/2006/relationships" id="258" r:id="Ra84132f2410441fa"/>
    <p:sldId xmlns:r="http://schemas.openxmlformats.org/officeDocument/2006/relationships" id="259" r:id="R9dc869e806ce4ade"/>
    <p:sldId xmlns:r="http://schemas.openxmlformats.org/officeDocument/2006/relationships" id="260" r:id="R79e0796bc1cb4346"/>
    <p:sldId xmlns:r="http://schemas.openxmlformats.org/officeDocument/2006/relationships" id="261" r:id="Re5a8fa53f9af4209"/>
    <p:sldId xmlns:r="http://schemas.openxmlformats.org/officeDocument/2006/relationships" id="262" r:id="R66021b07484c4b4a"/>
    <p:sldId xmlns:r="http://schemas.openxmlformats.org/officeDocument/2006/relationships" id="263" r:id="Rec3a0dd5c4d14d98"/>
    <p:sldId xmlns:r="http://schemas.openxmlformats.org/officeDocument/2006/relationships" id="264" r:id="R35240479f899446e"/>
    <p:sldId xmlns:r="http://schemas.openxmlformats.org/officeDocument/2006/relationships" id="265" r:id="R845909ec5c0449ff"/>
    <p:sldId xmlns:r="http://schemas.openxmlformats.org/officeDocument/2006/relationships" id="266" r:id="R2198d6f5c9a64886"/>
    <p:sldId xmlns:r="http://schemas.openxmlformats.org/officeDocument/2006/relationships" id="267" r:id="Rcc1b96d506844407"/>
    <p:sldId xmlns:r="http://schemas.openxmlformats.org/officeDocument/2006/relationships" id="268" r:id="R001b1ba54ddd41e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783ddf38d3d432f" /><Relationship Type="http://schemas.openxmlformats.org/officeDocument/2006/relationships/slideMaster" Target="/ppt/slideMasters/slideMaster1.xml" Id="Rcb1999591c7e4c98" /><Relationship Type="http://schemas.openxmlformats.org/officeDocument/2006/relationships/notesMaster" Target="/ppt/notesMasters/notesMaster1.xml" Id="R6d2bf2df96e64c4a" /><Relationship Type="http://schemas.openxmlformats.org/officeDocument/2006/relationships/presProps" Target="/ppt/presProps.xml" Id="Rb9f15112110c4e14" /><Relationship Type="http://schemas.openxmlformats.org/officeDocument/2006/relationships/tableStyles" Target="/ppt/tableStyles.xml" Id="R90fae86876dc4eb8" /><Relationship Type="http://schemas.openxmlformats.org/officeDocument/2006/relationships/slide" Target="/ppt/slides/slide1.xml" Id="R754f55c66b6f4abc" /><Relationship Type="http://schemas.openxmlformats.org/officeDocument/2006/relationships/slide" Target="/ppt/slides/slide2.xml" Id="Re63b5571f5f44cf8" /><Relationship Type="http://schemas.openxmlformats.org/officeDocument/2006/relationships/slide" Target="/ppt/slides/slide3.xml" Id="Ra84132f2410441fa" /><Relationship Type="http://schemas.openxmlformats.org/officeDocument/2006/relationships/slide" Target="/ppt/slides/slide4.xml" Id="R9dc869e806ce4ade" /><Relationship Type="http://schemas.openxmlformats.org/officeDocument/2006/relationships/slide" Target="/ppt/slides/slide5.xml" Id="R79e0796bc1cb4346" /><Relationship Type="http://schemas.openxmlformats.org/officeDocument/2006/relationships/slide" Target="/ppt/slides/slide6.xml" Id="Re5a8fa53f9af4209" /><Relationship Type="http://schemas.openxmlformats.org/officeDocument/2006/relationships/slide" Target="/ppt/slides/slide7.xml" Id="R66021b07484c4b4a" /><Relationship Type="http://schemas.openxmlformats.org/officeDocument/2006/relationships/slide" Target="/ppt/slides/slide8.xml" Id="Rec3a0dd5c4d14d98" /><Relationship Type="http://schemas.openxmlformats.org/officeDocument/2006/relationships/slide" Target="/ppt/slides/slide9.xml" Id="R35240479f899446e" /><Relationship Type="http://schemas.openxmlformats.org/officeDocument/2006/relationships/slide" Target="/ppt/slides/slide10.xml" Id="R845909ec5c0449ff" /><Relationship Type="http://schemas.openxmlformats.org/officeDocument/2006/relationships/slide" Target="/ppt/slides/slide11.xml" Id="R2198d6f5c9a64886" /><Relationship Type="http://schemas.openxmlformats.org/officeDocument/2006/relationships/slide" Target="/ppt/slides/slide12.xml" Id="Rcc1b96d506844407" /><Relationship Type="http://schemas.openxmlformats.org/officeDocument/2006/relationships/slide" Target="/ppt/slides/slide13.xml" Id="R001b1ba54ddd41e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52d438f3909431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698ae43dfc4e57" /><Relationship Type="http://schemas.openxmlformats.org/officeDocument/2006/relationships/notesMaster" Target="/ppt/notesMasters/notesMaster1.xml" Id="R6c41151e8963443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28459aac504487d" /><Relationship Type="http://schemas.openxmlformats.org/officeDocument/2006/relationships/notesMaster" Target="/ppt/notesMasters/notesMaster1.xml" Id="R361349a59ac8499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f5fd8dd3fe740e9" /><Relationship Type="http://schemas.openxmlformats.org/officeDocument/2006/relationships/notesMaster" Target="/ppt/notesMasters/notesMaster1.xml" Id="R89150ba465ab485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5c3139007fb4342" /><Relationship Type="http://schemas.openxmlformats.org/officeDocument/2006/relationships/notesMaster" Target="/ppt/notesMasters/notesMaster1.xml" Id="R611da93883ef4d2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c4fbadd3cea4471" /><Relationship Type="http://schemas.openxmlformats.org/officeDocument/2006/relationships/notesMaster" Target="/ppt/notesMasters/notesMaster1.xml" Id="Rbda3fea9daf74a2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ed71b1f822a4c34" /><Relationship Type="http://schemas.openxmlformats.org/officeDocument/2006/relationships/notesMaster" Target="/ppt/notesMasters/notesMaster1.xml" Id="R4723fec7b8f3403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42249c10ac84698" /><Relationship Type="http://schemas.openxmlformats.org/officeDocument/2006/relationships/notesMaster" Target="/ppt/notesMasters/notesMaster1.xml" Id="R3ec1857c90eb430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537cac77ffa4312" /><Relationship Type="http://schemas.openxmlformats.org/officeDocument/2006/relationships/notesMaster" Target="/ppt/notesMasters/notesMaster1.xml" Id="Rcba1c1796fd84d7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03bd46a9bec44af" /><Relationship Type="http://schemas.openxmlformats.org/officeDocument/2006/relationships/notesMaster" Target="/ppt/notesMasters/notesMaster1.xml" Id="R7e47485ad57c41d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804b192ab9c4672" /><Relationship Type="http://schemas.openxmlformats.org/officeDocument/2006/relationships/notesMaster" Target="/ppt/notesMasters/notesMaster1.xml" Id="R2f61e5dd5c6d452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a4fe5f0675d4b71" /><Relationship Type="http://schemas.openxmlformats.org/officeDocument/2006/relationships/notesMaster" Target="/ppt/notesMasters/notesMaster1.xml" Id="Raac612851abb4c2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cd1e4efcf2e476a" /><Relationship Type="http://schemas.openxmlformats.org/officeDocument/2006/relationships/notesMaster" Target="/ppt/notesMasters/notesMaster1.xml" Id="Rac0e53ac3dde466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ae66334964c4eaf" /><Relationship Type="http://schemas.openxmlformats.org/officeDocument/2006/relationships/notesMaster" Target="/ppt/notesMasters/notesMaster1.xml" Id="Re157de9dedbc4aa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35 seconds. Introduce carrier dispatch recovery. Demonstration records are synthetic. Show actual app immediately after this opening. No customer records are published.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accepted check counts: 106 backend, 50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 seconds. Explain a dispatcher coordinating resource commitments. This is a scenario, not an estimate of industry-wide cost or frequency.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accepted check counts: 106 backend, 50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80 seconds. Switch to live cloud film-demo or downloaded recording. Record expected departure and inspect the affected next load. Sources: actual RoadStar cloud browser capture, docs/evidence/cloud-auth-smoke.json. Visual: September 10 design-film cloud recording, 01-dock-delay-end.png, exact disruption strip. 12:00 planned departure, 13:30 expected departure, 12:15 next pickup, ET. Final frozen web source: capture-final/delay-impact.png, expanded real delay record in design-final synthetic carrier, September 10 2026. Final v9 source: /tmp/roadstar-polish/final-capture/delay-impact.png, deployment 00017-bj6, design-polish-final carrier. Actual recorded delay; same 12:00 / 13:30 / 12:15 ET scenario. Third-pass image: actual expanded delay-impact capture from frozen cloud 00020-8l2, cropped to the delay evidence strip; synthetic rehearsal.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accepted check counts: 106 backend, 50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65 seconds. Show current assignment and proposed D02/T102/V102. Approval rechecks versions and availability, then commits reservations and driver offer atomically. Source: tests/postgres.test.ts and actual cloud recovery verification. Visual: exact modal frame at 16 seconds from the new design-film 02-recovery-approval recording. Actual proposal and approval API responses succeeded. Final frozen web source: capture-final/approval-review.png, exact displayed consequential approval dialog in design-final carrier. The capture precedes the explicit confirmation. Final v9 capture: /tmp/roadstar-polish/capture/approval-review.png. Current and proposed drivers and equipment are shown before confirmation. Driver acceptance is separate. Checks and assumptions remain available in the disclosure. Final v9 source supersedes previous frame: /tmp/roadstar-polish/final-capture/approval-review.png, deployment 00017-bj6. Same explicit current-to-proposed dialog before confirmation. Third-pass image: actual approval-review capture from frozen cloud 00020-8l2, cropped to the dialog. Driver acceptance remains a separate command.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accepted check counts: 106 backend, 50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65 seconds. Native API35 Android emulator testing: Firebase login, offline acceptance, force-stop, restored session/downloaded trip/note/pending key, reconnect to accepted version2. Physical device background location and native iOS remain unverified. Current visual: actual September 10 Android API35 emulator Today screen. RS1043 accepted, pickup already completed, delivery is next. The screenshot does not claim a newly completed delivery or a new offline acceptance test. Density refresh: final native screenshot mobile/34-today-frozen.png, consistent RoadStar case and compact header. State remains accepted with delivery next. Final source freeze uses mobile/41-today-final.png. Compact one-row identity header and explicit synthetic scenario label. Original facility values remain unchanged underneath their shortened display labels. Final review-pass capture: mobile/56-today-frozen-review-pass.png. Same accepted trip state, pickup completed and delivery next; this capture is not new offline-acceptance verification. Final v9 capture supersedes the prior frame: mobile/60-today-density-final.png. Compact single-row header; accepted trip and delivery-next state unchanged.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accepted check counts: 106 backend, 50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60 seconds. Show original synthetic PDF and reviewed fields. Source hash/model output retained. Same-stop arrival/departure samples and configured terms produce draft. Human approval retains draft and creates new revision; no payment. Source: docs/evidence/cloud-document-extraction.json and actual cloud billing capture. Visual: retained actual synthetic cloud billing panel, cropped to the stop record and draft/approved revisions without changing content. Density refresh source: cloud-current/web-billing-panel.png. Same approved revision and original draft, original amounts and observed precision preserved.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accepted check counts: 106 backend, 50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55 seconds. Real OR-Tools with Valhalla truck matrix produced two LTL pickups and two deliveries. Cloud planning-demo approved, accepted and completed global order. Three vehicle-resource reservations stay active until every load completes. Synthetic26-pallet allowance disclosed. Source: docs/evidence/cloud-planning-verification.json and tests/group-road.test.ts. Visual: retained actual planning-demo completed two-load, four-stop manifest in the redesigned UI. Density refresh source: cloud-current/web-completed-manifest.png. Same actual completed two-load/four-stop fixture.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accepted check counts: 106 backend, 50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50 seconds. Imported15197 rows locally only.82 exact duplicates in Dispatch. Source originals, missing fields and historical dates retained. No customer rows shown or uploaded. Source: docs/evidence/workbook-import.json.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accepted check counts: 106 backend, 50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50 seconds. Cloud Run Fastify owns state changes. Dedicated PG16/PostGIS owns truth; ORTools/Valhalla compute; Vertex extracts; independent simulator posts synthetic events. API accepts no AI approval. See infra/gcp/README.md and services/api/src/store.ts. Third-pass architecture clarifies that OR-Tools/Valhalla proposals and Gemini document extraction are supporting capabilities used by the API. The lower section expresses those capabilities without depicting a new transaction flow.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accepted check counts: 106 backend, 50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55 seconds. Cloud benchmark: 524 telemetry and synchronization pairs, no failures, acknowledged-write-to-snapshot p95 5,448 ms. A separate five-pair local browser comparison observed eight scripted activations and two requests for manual resource assembly versus two activations and one request for ranked recovery. Both selected the same feasible resources; ranked recovery retained the rejected HOS reason. These are after-login automation counts and local execution timings, not dispatcher task time, carrier savings or production latency. Sources: docs/evidence/cloud-load-test-131-after-concurrency.json and docs/evidence/workflow-comparison-2026-09-12/verification.json. HOS remains a planning aid rather than a certified ELD; physical Android and native iOS remain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accepted check counts: 106 backend, 50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 seconds. Ask carrier to evaluate complete recovery workflow with permissioned operational input. Physicalhardwarecurrentlyunavailable. No invented customer adoption, measuredsavings or revenue. Full testinginstructions in local submission handoff.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accepted check counts: 106 backend, 50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120 seconds. Optional2 minutes. PostgreSQL btree_gist exclusion onresourceperiods. Commands have stableidempotencykey+expectedversion; staleproposal yields conflictbeforemutation. Per-carrier exclusivecommands sharedtelemetrytriplocks; eventinsertionlock ensurescommitordercursor. Explain rollback boundaries and carrier membership.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accepted check counts: 106 backend, 50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180 seconds. Optional3 minutes. Show the actual matched RoadStar comparison at shared T+40:00: baseline and 10%-speed Highway401 slowdown branches each retain2,401 acknowledged observations; the displayed progress gap is27.657km and deterministic modeled finish delta is26m46s. Matching binds route, source, clock, seed, speed, dwell and stops while excluding the declared intervention. Exact at-or-before observations are used without interpolation. Synthetic Valhalla route and modeled slowdown; no live-traffic, measured-savings or certified-GPS claim. Sources: docs/3d-slowdown-comparison.md and docs/evidence/3d-slowdown-comparison-2026-09-12/verification.json.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accepted check counts: 106 backend, 50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72ccf225364ff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f50de82b0a74557" /><Relationship Type="http://schemas.openxmlformats.org/officeDocument/2006/relationships/slideLayout" Target="/ppt/slideLayouts/slideLayout1.xml" Id="R5f6f0e98cb944a6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6f0e98cb944a6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eeb1277e314f67" /><Relationship Type="http://schemas.openxmlformats.org/officeDocument/2006/relationships/image" Target="/ppt/media/image.png" Id="R955bf372e1854aa3" /><Relationship Type="http://schemas.openxmlformats.org/officeDocument/2006/relationships/image" Target="/ppt/media/image2.png" Id="Rb719b6abc6894228" /><Relationship Type="http://schemas.openxmlformats.org/officeDocument/2006/relationships/image" Target="/ppt/media/image.svg" Id="Rf56cc45fb572406f" /><Relationship Type="http://schemas.openxmlformats.org/officeDocument/2006/relationships/notesSlide" Target="/ppt/notesSlides/notesSlide1.xml" Id="R698d316b6d6143c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2136c11ef74f95" /><Relationship Type="http://schemas.openxmlformats.org/officeDocument/2006/relationships/notesSlide" Target="/ppt/notesSlides/notesSlide2.xml" Id="R42d8556d8e38407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b80a8e2a9941b0" /><Relationship Type="http://schemas.openxmlformats.org/officeDocument/2006/relationships/image" Target="/ppt/media/image3.png" Id="R42ddae3450014f0d" /><Relationship Type="http://schemas.openxmlformats.org/officeDocument/2006/relationships/notesSlide" Target="/ppt/notesSlides/notesSlide3.xml" Id="R1dc202b56c85432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72c4d2c314481a" /><Relationship Type="http://schemas.openxmlformats.org/officeDocument/2006/relationships/image" Target="/ppt/media/image4.png" Id="Rba9746b281804dbc" /><Relationship Type="http://schemas.openxmlformats.org/officeDocument/2006/relationships/notesSlide" Target="/ppt/notesSlides/notesSlide4.xml" Id="R7eaebea98c5344b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1db53ef3494402" /><Relationship Type="http://schemas.openxmlformats.org/officeDocument/2006/relationships/image" Target="/ppt/media/image5.png" Id="Rc81c477f1e224dd2" /><Relationship Type="http://schemas.openxmlformats.org/officeDocument/2006/relationships/notesSlide" Target="/ppt/notesSlides/notesSlide5.xml" Id="R888000fcde6e431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ad017ceb924872" /><Relationship Type="http://schemas.openxmlformats.org/officeDocument/2006/relationships/image" Target="/ppt/media/image6.png" Id="R363c61e258a34b2d" /><Relationship Type="http://schemas.openxmlformats.org/officeDocument/2006/relationships/notesSlide" Target="/ppt/notesSlides/notesSlide6.xml" Id="R16cf28fb2f374d8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07ee64d6964a46" /><Relationship Type="http://schemas.openxmlformats.org/officeDocument/2006/relationships/image" Target="/ppt/media/image7.png" Id="R6d37102a23f74fbf" /><Relationship Type="http://schemas.openxmlformats.org/officeDocument/2006/relationships/notesSlide" Target="/ppt/notesSlides/notesSlide7.xml" Id="R12941f2799294d3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7958be62034362" /><Relationship Type="http://schemas.openxmlformats.org/officeDocument/2006/relationships/notesSlide" Target="/ppt/notesSlides/notesSlide8.xml" Id="Ra5a3be30fa254a8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7f02fcc12d4d42" /><Relationship Type="http://schemas.openxmlformats.org/officeDocument/2006/relationships/notesSlide" Target="/ppt/notesSlides/notesSlide9.xml" Id="Ra852687e5144406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005194b38f4142" /><Relationship Type="http://schemas.openxmlformats.org/officeDocument/2006/relationships/notesSlide" Target="/ppt/notesSlides/notesSlide10.xml" Id="R0f800667a98140b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ef29a7c61442b1" /><Relationship Type="http://schemas.openxmlformats.org/officeDocument/2006/relationships/image" Target="/ppt/media/image8.png" Id="R305f7ceac94d4a9a" /><Relationship Type="http://schemas.openxmlformats.org/officeDocument/2006/relationships/notesSlide" Target="/ppt/notesSlides/notesSlide11.xml" Id="R80045f9a2582438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c3ce1963124457" /><Relationship Type="http://schemas.openxmlformats.org/officeDocument/2006/relationships/notesSlide" Target="/ppt/notesSlides/notesSlide12.xml" Id="Re79162ebcc274e6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cda1ebaae542e7" /><Relationship Type="http://schemas.openxmlformats.org/officeDocument/2006/relationships/image" Target="/ppt/media/image9.png" Id="R226f9879ea8540de" /><Relationship Type="http://schemas.openxmlformats.org/officeDocument/2006/relationships/notesSlide" Target="/ppt/notesSlides/notesSlide13.xml" Id="Rbd51e38959424a7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91B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FF05F2-4964-4C0A-9298-7B81B0FD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01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5bf372e1854aa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19b6abc6894228">
            <a:extLst>
              <a:ext uri="{96DAC541-7B7A-43D3-8B79-37D633B846F1}">
                <asvg:svgBlip xmlns:asvg="http://schemas.microsoft.com/office/drawing/2016/SVG/main" r:embed="Rf56cc45fb572406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38175" y="933450"/>
            <a:ext cx="542925" cy="6096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EA9352-0124-40AA-8F47-9EA5F079D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714375"/>
            <a:ext cx="57150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82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682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RoadStar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2E6B89-570C-46E0-A996-EF357378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81200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3150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Dispatch recovery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084747-C213-4F54-931F-8D1302095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24200"/>
            <a:ext cx="4524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95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Carrier decisions. Driver execution.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E0FF35-DFCA-4BCD-88BA-D45B1931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1500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RoadStar Hackathon 2026</a:t>
            </a:r>
          </a:p>
        </p:txBody>
      </p:sp>
    </p:spTree>
    <p:extLst>
      <p:ext uri="{BB962C8B-B14F-4D97-AF65-F5344CB8AC3E}">
        <p14:creationId xmlns:p14="http://schemas.microsoft.com/office/powerpoint/2010/main" val="16343533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507A53-0827-49CF-B14F-871259BCE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17477B-F2EA-4247-867F-BBE6974A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76300"/>
            <a:ext cx="6000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17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517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A dock delay</a:t>
            </a:r>
          </a:p>
          <a:p xmlns:a="http://schemas.openxmlformats.org/drawingml/2006/main">
            <a:pPr>
              <a:defRPr sz="517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517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reaches the</a:t>
            </a:r>
          </a:p>
          <a:p xmlns:a="http://schemas.openxmlformats.org/drawingml/2006/main">
            <a:pPr>
              <a:defRPr sz="517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517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next pickup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1AB03E-DFCD-42DB-99E6-72E5DC7F3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43450"/>
            <a:ext cx="5524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 dispatcher must reconnect the next assignment with available resources.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59D472-29BE-4D2D-B206-D6B99A516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5049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2775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Dock delay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77D490-2184-4B13-B06D-F00FA8A96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057525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277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Next pickup</a:t>
            </a:r>
          </a:p>
        </p:txBody>
      </p:sp>
      <p:cxnSp>
        <p:nvCxnSpPr>
          <p:cNvPr id="15" name=""/>
          <p:cNvCxnSpPr>
            <a:stCxn xmlns:a="http://schemas.openxmlformats.org/drawingml/2006/main" id="4" idx="1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696200" y="1838325"/>
            <a:ext cx="0" cy="1552575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E65C32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A27245-AA1E-4A34-8AF4-664A4F5A9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3050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5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Current truck is still committed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FA5A36-1FEE-4903-8961-10E3C017B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3905250"/>
            <a:ext cx="29527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Driver</a:t>
            </a:r>
          </a:p>
          <a:p xmlns:a="http://schemas.openxmlformats.org/drawingml/2006/main">
            <a:pPr>
              <a:defRPr sz="21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Truck</a:t>
            </a:r>
          </a:p>
          <a:p xmlns:a="http://schemas.openxmlformats.org/drawingml/2006/main">
            <a:pPr>
              <a:defRPr sz="21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Trailer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80CB4F-84DC-47C5-886A-2F3CC9088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5924550"/>
            <a:ext cx="3524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Illustrative dispatch scenario</a:t>
            </a:r>
          </a:p>
        </p:txBody>
      </p:sp>
    </p:spTree>
    <p:extLst>
      <p:ext uri="{BB962C8B-B14F-4D97-AF65-F5344CB8AC3E}">
        <p14:creationId xmlns:p14="http://schemas.microsoft.com/office/powerpoint/2010/main" val="6693491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C14EC8-FD0D-428F-9CB6-744F4D03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8A7FEA-6019-4CF2-995A-A72F88238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Recovery rehearsal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FCDB8B-6630-4F79-9200-89A91E0DA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47775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 delayed departure makes the next assignment visible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ddae3450014f0d"/>
          <a:stretch xmlns:a="http://schemas.openxmlformats.org/drawingml/2006/main"/>
        </p:blipFill>
        <p:spPr>
          <a:xfrm xmlns:a="http://schemas.openxmlformats.org/drawingml/2006/main">
            <a:off x="676275" y="2000250"/>
            <a:ext cx="10839450" cy="16764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E69290-2794-4018-9FB8-A9E166B65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076700"/>
            <a:ext cx="34385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51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12:00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C17EAF-5005-4CD5-86C8-1E6B60321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038725"/>
            <a:ext cx="3295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9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Planned departure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7B33B0-0E13-46B1-855C-93A3A9319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076700"/>
            <a:ext cx="34385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5100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13:30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276665-614A-4930-8415-6CDE92B4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5038725"/>
            <a:ext cx="3371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9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Expected departure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78D26C-C1E8-446E-9667-9942ED609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076700"/>
            <a:ext cx="31527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51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12:15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0128FF-22FF-4767-99CA-9F038B0BE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038725"/>
            <a:ext cx="295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9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Next pickup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54BDCC-3716-4A99-8A87-FD8603D0A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00775"/>
            <a:ext cx="10382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Synthetic scenario. Times in ET. Actual Ontario truck routing supports the recovery.</a:t>
            </a:r>
          </a:p>
        </p:txBody>
      </p:sp>
    </p:spTree>
    <p:extLst>
      <p:ext uri="{BB962C8B-B14F-4D97-AF65-F5344CB8AC3E}">
        <p14:creationId xmlns:p14="http://schemas.microsoft.com/office/powerpoint/2010/main" val="13179865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91B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F67D21-380B-4DA3-92EC-2E22E2B9E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5C7A4D-CAE6-4929-AC93-E6BE1883F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53340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12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412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Approval</a:t>
            </a:r>
          </a:p>
          <a:p xmlns:a="http://schemas.openxmlformats.org/drawingml/2006/main">
            <a:pPr>
              <a:defRPr sz="412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412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against current</a:t>
            </a:r>
          </a:p>
          <a:p xmlns:a="http://schemas.openxmlformats.org/drawingml/2006/main">
            <a:pPr>
              <a:defRPr sz="412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412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C100A0-9D22-4AD5-9C34-524A05C08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766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The server rechecks the proposal at the moment of approval.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29C9E8-C8BA-48AF-88A3-A2DE5C407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97205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Versions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F661FF-DF28-49E6-B387-7AF8B699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1020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Availability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EAA969-C592-497A-93D5-8371AFFB6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84835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Atomic reservations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9746b281804dbc"/>
          <a:stretch xmlns:a="http://schemas.openxmlformats.org/drawingml/2006/main"/>
        </p:blipFill>
        <p:spPr>
          <a:xfrm xmlns:a="http://schemas.openxmlformats.org/drawingml/2006/main">
            <a:off x="5600700" y="1028700"/>
            <a:ext cx="5905500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8256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2990BC-E23E-400E-99D9-C75ECE407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4F0EBC-69CA-4E00-8E2B-E48D7DFC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685800"/>
            <a:ext cx="6667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72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472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The driver</a:t>
            </a:r>
          </a:p>
          <a:p xmlns:a="http://schemas.openxmlformats.org/drawingml/2006/main">
            <a:pPr>
              <a:defRPr sz="472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472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keeps the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5A9C49-7DD6-4DDA-8825-F0EF67E7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533650"/>
            <a:ext cx="533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Acceptance stays visible through an offline interruption.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4FC0C8-794D-4722-9639-51F2E2C6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86715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3A0814-B5C6-433E-A36A-E9726231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3867150"/>
            <a:ext cx="4619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Pending while offline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0C4801-289D-4A4E-91F9-D850A6F1E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59105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F6AE36-D684-4491-BE80-77E6D54C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591050"/>
            <a:ext cx="5191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Trip and draft survive termination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13790F-47AD-4A51-84BB-18A8B92A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31495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D5C2B0-EA99-4CFE-AE67-59F2D410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5314950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Server confirms the command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1c477f1e224dd2"/>
          <a:stretch xmlns:a="http://schemas.openxmlformats.org/drawingml/2006/main"/>
        </p:blipFill>
        <p:spPr>
          <a:xfrm xmlns:a="http://schemas.openxmlformats.org/drawingml/2006/main">
            <a:off x="7946708" y="266700"/>
            <a:ext cx="2794635" cy="62103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5AD11B-6079-4B83-8BFF-ACA4B6671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Android emulator verified. Physical phone and native iOS remain unverified.</a:t>
            </a:r>
          </a:p>
        </p:txBody>
      </p:sp>
    </p:spTree>
    <p:extLst>
      <p:ext uri="{BB962C8B-B14F-4D97-AF65-F5344CB8AC3E}">
        <p14:creationId xmlns:p14="http://schemas.microsoft.com/office/powerpoint/2010/main" val="13780532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EBDB65-180C-4777-B923-30215DDF5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837B34-CF77-4F54-AFCA-F1958C59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Documents and detention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0C5E05-63E3-4EFD-A367-283B78AF0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763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 reviewed revision keeps the original draft in view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3c61e258a34b2d"/>
          <a:stretch xmlns:a="http://schemas.openxmlformats.org/drawingml/2006/main"/>
        </p:blipFill>
        <p:spPr>
          <a:xfrm xmlns:a="http://schemas.openxmlformats.org/drawingml/2006/main">
            <a:off x="836768" y="2085975"/>
            <a:ext cx="10518464" cy="40576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473BA-EECB-4A76-9447-F3C36D81C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19825"/>
            <a:ext cx="10382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Observed samples require review. Billing approval does not initiate payment.</a:t>
            </a:r>
          </a:p>
        </p:txBody>
      </p:sp>
    </p:spTree>
    <p:extLst>
      <p:ext uri="{BB962C8B-B14F-4D97-AF65-F5344CB8AC3E}">
        <p14:creationId xmlns:p14="http://schemas.microsoft.com/office/powerpoint/2010/main" val="20936225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91B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40F914-F55C-4A77-A18A-B5A70CDB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6CB13B-8856-4601-8277-000EA31D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5619750" cy="1323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600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6600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2 loads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CA47BB-7DC0-47F8-A335-1EF949050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5715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3150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4 ordered stops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9EF3F3-71BE-4672-8D9D-72D19EC9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67100"/>
            <a:ext cx="447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One vehicle pairing</a:t>
            </a:r>
          </a:p>
          <a:p xmlns:a="http://schemas.openxmlformats.org/drawingml/2006/main">
            <a:pPr>
              <a:defRPr sz="225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One approval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37102a23f74fbf"/>
          <a:stretch xmlns:a="http://schemas.openxmlformats.org/drawingml/2006/main"/>
        </p:blipFill>
        <p:spPr>
          <a:xfrm xmlns:a="http://schemas.openxmlformats.org/drawingml/2006/main">
            <a:off x="6000750" y="920413"/>
            <a:ext cx="5667375" cy="4988598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86B187-3488-496E-913D-7E62806B0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67325"/>
            <a:ext cx="4476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80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Reservations stay active until every load completes.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D423D3-0D04-44E5-B7F7-7452E968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57925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Synthetic pallet capacity disclosed</a:t>
            </a:r>
          </a:p>
        </p:txBody>
      </p:sp>
    </p:spTree>
    <p:extLst>
      <p:ext uri="{BB962C8B-B14F-4D97-AF65-F5344CB8AC3E}">
        <p14:creationId xmlns:p14="http://schemas.microsoft.com/office/powerpoint/2010/main" val="84386284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19ACAF-849A-461E-819A-C44F1F2AD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7D56C8-0FE7-4510-B4C7-96FB9DCBD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All five sheets retain lineage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C6AD73-C39D-4A38-8CE8-48D75E7E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05000"/>
            <a:ext cx="5429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02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802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15,197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BFB796-705F-4AA5-811F-4BA80997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19475"/>
            <a:ext cx="457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4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source rows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68E9D5-8D2C-40F5-A0B4-FF29C92F3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19600"/>
            <a:ext cx="6000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82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106DE7-2771-4CEF-B4E0-97D1FFCC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19600"/>
            <a:ext cx="4743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exact Dispatch duplicates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4572D6-93DD-4464-971C-EBBB392BE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886325"/>
            <a:ext cx="5191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Historical provenance preserved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Private source data stays local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6467475" y="1714500"/>
          <a:ext xmlns:a="http://schemas.openxmlformats.org/drawingml/2006/main" cx="5029200" cy="3886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1885950"/>
              </a:tblGrid>
              <a:tr h="647700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666962"/>
                          </a:solidFill>
                          <a:latin typeface="Manrope"/>
                          <a:ea typeface="Manrope"/>
                          <a:cs typeface="Manrope"/>
                        </a:rPr>
                        <a:t>Sheet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F5F3ED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50" b="1">
                          <a:solidFill>
                            <a:srgbClr val="666962"/>
                          </a:solidFill>
                          <a:latin typeface="Manrope"/>
                          <a:ea typeface="Manrope"/>
                          <a:cs typeface="Manrope"/>
                        </a:rPr>
                        <a:t>Rows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F5F3ED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Tlorder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4,031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Dispatch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10,479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Driver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131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Trucks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131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Trailers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F5F3ED"/>
                      </a:solidFill>
                    </a:lnB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425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F5F3ED"/>
                      </a:solidFill>
                    </a:lnB>
                    <a:solidFill>
                      <a:srgbClr val="F5F3ED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F849B9-09A2-47E9-99F0-860B7A5C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00775"/>
            <a:ext cx="10382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Public preview uses labeled synthetic operational scenarios.</a:t>
            </a:r>
          </a:p>
        </p:txBody>
      </p:sp>
    </p:spTree>
    <p:extLst>
      <p:ext uri="{BB962C8B-B14F-4D97-AF65-F5344CB8AC3E}">
        <p14:creationId xmlns:p14="http://schemas.microsoft.com/office/powerpoint/2010/main" val="13164928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BDC0DE-46D9-4A84-895B-423EF3C15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95C47-7720-452B-A755-C247E744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One operational database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845918-6CBA-4EB4-B6E9-F6B13942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145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CLIENTS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99D560-D9D8-4092-B45D-E0006507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9145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COMMANDS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0F78C0-382D-47B2-94ED-3F3EAB6F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9145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STORAGE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81CCB8-E4A0-4BCF-A7F1-B4C3AA38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57450"/>
            <a:ext cx="2762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247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Web + mobile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EBD4D8-5AE0-497E-8106-456954633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57450"/>
            <a:ext cx="26765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247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Fastify API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63A3DD-E4C2-4C66-B7E7-F687FDD7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457450"/>
            <a:ext cx="2809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2475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PostgreSQL</a:t>
            </a:r>
          </a:p>
        </p:txBody>
      </p:sp>
      <p:cxnSp>
        <p:nvCxnSpPr>
          <p:cNvPr id="27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381375" y="2781300"/>
            <a:ext cx="12096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6962"/>
            </a:solidFill>
            <a:prstDash val="solid"/>
            <a:tailEnd type="triangle" w="sm" len="sm"/>
          </a:ln>
        </p:spPr>
      </p:cxnSp>
      <p:cxnSp>
        <p:nvCxnSpPr>
          <p:cNvPr id="28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267575" y="2781300"/>
            <a:ext cx="14859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E65C32"/>
            </a:solidFill>
            <a:prstDash val="solid"/>
            <a:tailEnd type="triangle" w="sm" len="sm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BF0448-79DF-4243-9FDF-DAF34F2A5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390900"/>
            <a:ext cx="30480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React dispatcher UI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Expo driver execution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389CBD-9B1A-48F9-824C-EB77BB5FD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390900"/>
            <a:ext cx="3238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Firebase identity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Carrier membership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Validated commands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EC2869-551F-4E04-8959-DA9B72D60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3390900"/>
            <a:ext cx="2714625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Versions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Reservations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Evidence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7F8E73-0692-44CD-9B5B-6BF694DA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057775"/>
            <a:ext cx="10801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DD5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FE4FE3-0289-410F-9082-2C6CA5C0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1017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725" b="1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Supporting capabilities used by the API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04F8CA-6859-40A6-83F7-CED57AE0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667375"/>
            <a:ext cx="58864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Proposals: OR-Tools + Valhalla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D37463-5930-4A77-B9EC-033846EC0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667375"/>
            <a:ext cx="4857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Documents: Gemini extraction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AA0689-F92C-4A7E-B56D-25DF4F95E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200775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42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Independent replay clock · Approval remains an explicit command.</a:t>
            </a:r>
          </a:p>
        </p:txBody>
      </p:sp>
    </p:spTree>
    <p:extLst>
      <p:ext uri="{BB962C8B-B14F-4D97-AF65-F5344CB8AC3E}">
        <p14:creationId xmlns:p14="http://schemas.microsoft.com/office/powerpoint/2010/main" val="6696140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91B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B0D8A7-07DD-4F04-92F8-13F64A32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C23CB0-D734-45B7-9E56-36AA139E3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Measured 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FB89F2-8F10-4AB0-BB13-2E1812A35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90675"/>
            <a:ext cx="6257925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52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952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5.4 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0F0232-8341-4DAE-AB9C-23E6D006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09950"/>
            <a:ext cx="614362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p95 acknowledgement-to-snapshot lag</a:t>
            </a:r>
          </a:p>
          <a:p xmlns:a="http://schemas.openxmlformats.org/drawingml/2006/main">
            <a:pPr>
              <a:defRPr sz="21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in the 131-driver cloud burst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75E4E9-1A2F-4FD3-BE00-59B00C39F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866900"/>
            <a:ext cx="342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E65C32"/>
                </a:solidFill>
                <a:latin typeface="Manrope"/>
                <a:ea typeface="Manrope"/>
                <a:cs typeface="Manrope"/>
              </a:defRPr>
            </a:pPr>
            <a:r>
              <a:rPr sz="4950" b="1">
                <a:solidFill>
                  <a:srgbClr val="E65C32"/>
                </a:solidFill>
                <a:latin typeface="Manrope"/>
                <a:ea typeface="Manrope"/>
                <a:cs typeface="Manrope"/>
              </a:rPr>
              <a:t>524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171C93-A288-449C-8B41-D0ABF47FE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838450"/>
            <a:ext cx="352425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telemetry + synchronization pairs</a:t>
            </a:r>
          </a:p>
          <a:p xmlns:a="http://schemas.openxmlformats.org/drawingml/2006/main">
            <a:pPr>
              <a:defRPr sz="18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Zero failed commands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4F9906-3A93-4EDA-BD44-92EC654B2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762500"/>
            <a:ext cx="63055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Manual 8 / ranked 2 activations</a:t>
            </a:r>
          </a:p>
          <a:p xmlns:a="http://schemas.openxmlformats.org/drawingml/2006/main">
            <a:pPr>
              <a:defRPr sz="18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Manual 2 / ranked 1 recovery requests</a:t>
            </a:r>
          </a:p>
          <a:p xmlns:a="http://schemas.openxmlformats.org/drawingml/2006/main">
            <a:pPr>
              <a:defRPr sz="18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Five matched synthetic browser pairs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B7D211-52C1-4289-883D-6F965392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076950"/>
            <a:ext cx="6305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After login. Scripted counts, not human task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83C6D2-7E94-413F-B3F1-9A2869ED3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695825"/>
            <a:ext cx="3514725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72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Physical background location and native iOS still need testing.</a:t>
            </a:r>
          </a:p>
          <a:p xmlns:a="http://schemas.openxmlformats.org/drawingml/2006/main">
            <a:pPr>
              <a:defRPr sz="172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72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Declared duty budgets are not a certified ELD.</a:t>
            </a:r>
          </a:p>
        </p:txBody>
      </p:sp>
    </p:spTree>
    <p:extLst>
      <p:ext uri="{BB962C8B-B14F-4D97-AF65-F5344CB8AC3E}">
        <p14:creationId xmlns:p14="http://schemas.microsoft.com/office/powerpoint/2010/main" val="213440624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91B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74D28D-3D6F-4E54-88FF-00A6EE4AD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11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5f7ceac94d4a9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2CC63A-9C5F-4890-8970-40EAB95EB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66750"/>
            <a:ext cx="6858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4950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Next carrier</a:t>
            </a:r>
          </a:p>
          <a:p xmlns:a="http://schemas.openxmlformats.org/drawingml/2006/main">
            <a:pPr>
              <a:defRPr sz="4950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4950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evaluation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245C82-0C16-40B0-9ADD-6F44B80E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190875"/>
            <a:ext cx="5857875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Physical device validation</a:t>
            </a:r>
          </a:p>
          <a:p xmlns:a="http://schemas.openxmlformats.org/drawingml/2006/main">
            <a:pPr>
              <a:defRPr sz="2025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Carrier inputs and facility review</a:t>
            </a:r>
          </a:p>
          <a:p xmlns:a="http://schemas.openxmlformats.org/drawingml/2006/main">
            <a:pPr>
              <a:defRPr sz="2025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Measured dispatcher and driver use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6C71F0-A62D-42A3-9519-7355FC456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48375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roadstar-web-739889188415.us-central1.run.app</a:t>
            </a:r>
          </a:p>
        </p:txBody>
      </p:sp>
    </p:spTree>
    <p:extLst>
      <p:ext uri="{BB962C8B-B14F-4D97-AF65-F5344CB8AC3E}">
        <p14:creationId xmlns:p14="http://schemas.microsoft.com/office/powerpoint/2010/main" val="203394177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20E384-A86B-46BB-81C7-961ECF9EF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12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6D0C97-1033-4C18-8CBE-13CF5608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Concurrent approval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8E5C0E-67B8-42AF-94F1-58E9E6830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3335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9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 stable command key and expected version protect the same intent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5DDA4B-5EC3-4E8A-B4D6-95A874402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47950"/>
            <a:ext cx="247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24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Command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313E63-BBDC-408B-B79A-BEE2F043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647950"/>
            <a:ext cx="25431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24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Recheck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4B97A4-314B-4BF3-B24A-AACC032E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479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2400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Commit</a:t>
            </a:r>
          </a:p>
        </p:txBody>
      </p:sp>
      <p:cxnSp>
        <p:nvCxnSpPr>
          <p:cNvPr id="1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124200" y="2895600"/>
            <a:ext cx="151447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DCDDD5"/>
            </a:solidFill>
            <a:prstDash val="solid"/>
          </a:ln>
        </p:spPr>
      </p:cxnSp>
      <p:cxnSp>
        <p:nvCxnSpPr>
          <p:cNvPr id="2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181850" y="2895600"/>
            <a:ext cx="15811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65C32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5848C1-588B-408B-AADB-15ADF32DD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9975"/>
            <a:ext cx="3048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Identity and version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Stable idempotency key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96BA7E-6C76-4C8A-95F0-918A2FF12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609975"/>
            <a:ext cx="33242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Current availability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Resource exclusion constraints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81D6B2-68CD-474B-8AA6-466B33FA6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609975"/>
            <a:ext cx="288607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Atomic reservations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Commit-ordered events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C3143F-431A-4866-AD57-ABD864BC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667375"/>
            <a:ext cx="1057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 stale proposal conflicts before mutation. A repeated key returns its original result.</a:t>
            </a:r>
          </a:p>
        </p:txBody>
      </p:sp>
    </p:spTree>
    <p:extLst>
      <p:ext uri="{BB962C8B-B14F-4D97-AF65-F5344CB8AC3E}">
        <p14:creationId xmlns:p14="http://schemas.microsoft.com/office/powerpoint/2010/main" val="49050680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91B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B93187-F74C-465D-8B88-BFCC31C40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0CB0BD-6720-43D0-9FE5-2BECB6465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Matched Highway 401 slowdown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F4F9AF-9150-453A-96FC-E4E7F1370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38250"/>
            <a:ext cx="519112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65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Same route, seed, clock, dwell and source · only the road intervention changes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E32E9E-C8A9-43AB-851A-8CABCF87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28825"/>
            <a:ext cx="485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4050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2,401 ×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255608-29FC-42F1-A31B-F4EA1A7EC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714625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65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acknowledged observations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4D0EE2-8652-4C2C-A0FD-318897BD5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81375"/>
            <a:ext cx="4857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E65C32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E65C32"/>
                </a:solidFill>
                <a:latin typeface="Manrope"/>
                <a:ea typeface="Manrope"/>
                <a:cs typeface="Manrope"/>
              </a:rPr>
              <a:t>+27.657 km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0005A0-64B4-476C-B49E-B2E1D3104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048125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65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progress gap at T+40:00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336549-12E0-4E68-B586-B409220EA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95825"/>
            <a:ext cx="4857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+26m46s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E4F748-A1E5-4B47-8A82-A6E10133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362575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65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modeled finish delta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974C7E-421E-4A07-B412-848DF79E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953125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Exact at-or-before samples · no interpolation</a:t>
            </a:r>
          </a:p>
          <a:p xmlns:a="http://schemas.openxmlformats.org/drawingml/2006/main">
            <a:pPr>
              <a:defRPr sz="135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Synthetic route and slowdown; no live-traffic claim.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6f9879ea8540de"/>
          <a:stretch xmlns:a="http://schemas.openxmlformats.org/drawingml/2006/main"/>
        </p:blipFill>
        <p:spPr>
          <a:xfrm xmlns:a="http://schemas.openxmlformats.org/drawingml/2006/main">
            <a:off x="6274662" y="1323975"/>
            <a:ext cx="4995726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837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2026-09-13T00:13:03.5730000Z</dcterms:created>
  <dcterms:modified xsi:type="dcterms:W3CDTF">2026-09-13T00:13:03.5730000Z</dcterms:modified>
</coreProperties>
</file>