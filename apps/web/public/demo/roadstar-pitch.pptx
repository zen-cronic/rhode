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e4800e1dbc4aca" /><Relationship Type="http://schemas.openxmlformats.org/officeDocument/2006/relationships/extended-properties" Target="/docProps/app.xml" Id="Rcf1b07affff84dc5" /><Relationship Type="http://schemas.openxmlformats.org/officeDocument/2006/relationships/officeDocument" Target="/ppt/presentation.xml" Id="R1a64817bb54642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bf39df39f34aa5"/>
  </p:sldMasterIdLst>
  <p:notesMasterIdLst>
    <p:notesMasterId xmlns:r="http://schemas.openxmlformats.org/officeDocument/2006/relationships" r:id="R9cb2d47fe83943b2"/>
  </p:notesMasterIdLst>
  <p:sldIdLst>
    <p:sldId xmlns:r="http://schemas.openxmlformats.org/officeDocument/2006/relationships" id="256" r:id="R7b871bc12b7a4fd0"/>
    <p:sldId xmlns:r="http://schemas.openxmlformats.org/officeDocument/2006/relationships" id="257" r:id="Re42c28c83dc547a1"/>
    <p:sldId xmlns:r="http://schemas.openxmlformats.org/officeDocument/2006/relationships" id="258" r:id="R59d9f3d2494e4722"/>
    <p:sldId xmlns:r="http://schemas.openxmlformats.org/officeDocument/2006/relationships" id="259" r:id="R69dc6d1d6ff945ee"/>
    <p:sldId xmlns:r="http://schemas.openxmlformats.org/officeDocument/2006/relationships" id="260" r:id="R4b52cb99b27b440f"/>
    <p:sldId xmlns:r="http://schemas.openxmlformats.org/officeDocument/2006/relationships" id="261" r:id="Rb8e8f3c968a24493"/>
    <p:sldId xmlns:r="http://schemas.openxmlformats.org/officeDocument/2006/relationships" id="262" r:id="Rcc91622eb85f43d1"/>
    <p:sldId xmlns:r="http://schemas.openxmlformats.org/officeDocument/2006/relationships" id="263" r:id="R69422b8cc5164dee"/>
    <p:sldId xmlns:r="http://schemas.openxmlformats.org/officeDocument/2006/relationships" id="264" r:id="R1e09ddc458e04213"/>
    <p:sldId xmlns:r="http://schemas.openxmlformats.org/officeDocument/2006/relationships" id="265" r:id="R5a53b77e7751495f"/>
    <p:sldId xmlns:r="http://schemas.openxmlformats.org/officeDocument/2006/relationships" id="266" r:id="Rbdeac8d0a86644a5"/>
    <p:sldId xmlns:r="http://schemas.openxmlformats.org/officeDocument/2006/relationships" id="267" r:id="Ra3e0918bd4174f9e"/>
    <p:sldId xmlns:r="http://schemas.openxmlformats.org/officeDocument/2006/relationships" id="268" r:id="R6628de4e55bc40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2c25e986554bed" /><Relationship Type="http://schemas.openxmlformats.org/officeDocument/2006/relationships/slideMaster" Target="/ppt/slideMasters/slideMaster1.xml" Id="Rc1bf39df39f34aa5" /><Relationship Type="http://schemas.openxmlformats.org/officeDocument/2006/relationships/notesMaster" Target="/ppt/notesMasters/notesMaster1.xml" Id="R9cb2d47fe83943b2" /><Relationship Type="http://schemas.openxmlformats.org/officeDocument/2006/relationships/presProps" Target="/ppt/presProps.xml" Id="R2d904554e5c74a0e" /><Relationship Type="http://schemas.openxmlformats.org/officeDocument/2006/relationships/tableStyles" Target="/ppt/tableStyles.xml" Id="Rf233177bcee2464e" /><Relationship Type="http://schemas.openxmlformats.org/officeDocument/2006/relationships/slide" Target="/ppt/slides/slide1.xml" Id="R7b871bc12b7a4fd0" /><Relationship Type="http://schemas.openxmlformats.org/officeDocument/2006/relationships/slide" Target="/ppt/slides/slide2.xml" Id="Re42c28c83dc547a1" /><Relationship Type="http://schemas.openxmlformats.org/officeDocument/2006/relationships/slide" Target="/ppt/slides/slide3.xml" Id="R59d9f3d2494e4722" /><Relationship Type="http://schemas.openxmlformats.org/officeDocument/2006/relationships/slide" Target="/ppt/slides/slide4.xml" Id="R69dc6d1d6ff945ee" /><Relationship Type="http://schemas.openxmlformats.org/officeDocument/2006/relationships/slide" Target="/ppt/slides/slide5.xml" Id="R4b52cb99b27b440f" /><Relationship Type="http://schemas.openxmlformats.org/officeDocument/2006/relationships/slide" Target="/ppt/slides/slide6.xml" Id="Rb8e8f3c968a24493" /><Relationship Type="http://schemas.openxmlformats.org/officeDocument/2006/relationships/slide" Target="/ppt/slides/slide7.xml" Id="Rcc91622eb85f43d1" /><Relationship Type="http://schemas.openxmlformats.org/officeDocument/2006/relationships/slide" Target="/ppt/slides/slide8.xml" Id="R69422b8cc5164dee" /><Relationship Type="http://schemas.openxmlformats.org/officeDocument/2006/relationships/slide" Target="/ppt/slides/slide9.xml" Id="R1e09ddc458e04213" /><Relationship Type="http://schemas.openxmlformats.org/officeDocument/2006/relationships/slide" Target="/ppt/slides/slide10.xml" Id="R5a53b77e7751495f" /><Relationship Type="http://schemas.openxmlformats.org/officeDocument/2006/relationships/slide" Target="/ppt/slides/slide11.xml" Id="Rbdeac8d0a86644a5" /><Relationship Type="http://schemas.openxmlformats.org/officeDocument/2006/relationships/slide" Target="/ppt/slides/slide12.xml" Id="Ra3e0918bd4174f9e" /><Relationship Type="http://schemas.openxmlformats.org/officeDocument/2006/relationships/slide" Target="/ppt/slides/slide13.xml" Id="R6628de4e55bc40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911646f70141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768bfffc0943b9" /><Relationship Type="http://schemas.openxmlformats.org/officeDocument/2006/relationships/notesMaster" Target="/ppt/notesMasters/notesMaster1.xml" Id="Rfbbcdf1603fd43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b2c881339e4dbc" /><Relationship Type="http://schemas.openxmlformats.org/officeDocument/2006/relationships/notesMaster" Target="/ppt/notesMasters/notesMaster1.xml" Id="R1a83d8e9117643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a1fff493bd4617" /><Relationship Type="http://schemas.openxmlformats.org/officeDocument/2006/relationships/notesMaster" Target="/ppt/notesMasters/notesMaster1.xml" Id="R93c246b41ff749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dedbab03bf41c8" /><Relationship Type="http://schemas.openxmlformats.org/officeDocument/2006/relationships/notesMaster" Target="/ppt/notesMasters/notesMaster1.xml" Id="Rbc81cbd736204a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ad8473e27b4b9b" /><Relationship Type="http://schemas.openxmlformats.org/officeDocument/2006/relationships/notesMaster" Target="/ppt/notesMasters/notesMaster1.xml" Id="R5fec7d2d1d0a40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fa681d1e4c4766" /><Relationship Type="http://schemas.openxmlformats.org/officeDocument/2006/relationships/notesMaster" Target="/ppt/notesMasters/notesMaster1.xml" Id="R8d6ec220935b45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eda6639a5841b5" /><Relationship Type="http://schemas.openxmlformats.org/officeDocument/2006/relationships/notesMaster" Target="/ppt/notesMasters/notesMaster1.xml" Id="R94e7a55fef464d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09d475f05e48a6" /><Relationship Type="http://schemas.openxmlformats.org/officeDocument/2006/relationships/notesMaster" Target="/ppt/notesMasters/notesMaster1.xml" Id="Re94b3263b27246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30f1c5cf6a47fb" /><Relationship Type="http://schemas.openxmlformats.org/officeDocument/2006/relationships/notesMaster" Target="/ppt/notesMasters/notesMaster1.xml" Id="R7d5e0bb927c542d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f16e18df6a94b67" /><Relationship Type="http://schemas.openxmlformats.org/officeDocument/2006/relationships/notesMaster" Target="/ppt/notesMasters/notesMaster1.xml" Id="R30fcca32872944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60fc77cb9b4668" /><Relationship Type="http://schemas.openxmlformats.org/officeDocument/2006/relationships/notesMaster" Target="/ppt/notesMasters/notesMaster1.xml" Id="R34facdff9db64f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122e89c35e499a" /><Relationship Type="http://schemas.openxmlformats.org/officeDocument/2006/relationships/notesMaster" Target="/ppt/notesMasters/notesMaster1.xml" Id="R7224fc43bb1d419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190e6a399a41b2" /><Relationship Type="http://schemas.openxmlformats.org/officeDocument/2006/relationships/notesMaster" Target="/ppt/notesMasters/notesMaster1.xml" Id="R3522843da38c49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seconds. Introduce carrier dispatch recovery. Demonstration records are synthetic. Show actual app immediately after this opening. No customer records are published.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Explain a dispatcher coordinating resource commitments. This is a scenario, not an estimate of industry-wide cost or frequency.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80 seconds. Switch to live cloud film-demo or downloaded recording. Record expected departure and inspect the affected next load. Sources: actual RoadStar cloud browser capture, docs/evidence/cloud-auth-smoke.json. Visual: September 10 design-film cloud recording, 01-dock-delay-end.png, exact disruption strip. 12:00 planned departure, 13:30 expected departure, 12:15 next pickup, ET. Final frozen web source: capture-final/delay-impact.png, expanded real delay record in design-final synthetic carrier, September 10 2026. Final v9 source: /tmp/roadstar-polish/final-capture/delay-impact.png, deployment 00017-bj6, design-polish-final carrier. Actual recorded delay; same 12:00 / 13:30 / 12:15 ET scenario. Third-pass image: actual expanded delay-impact capture from frozen cloud 00020-8l2, cropped to the delay evidence strip; synthetic rehearsal.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Show current assignment and proposed D02/T102/V102. Approval rechecks versions and availability, then commits reservations and driver offer atomically. Source: tests/postgres.test.ts and actual cloud recovery verification. Visual: exact modal frame at 16 seconds from the new design-film 02-recovery-approval recording. Actual proposal and approval API responses succeeded. Final frozen web source: capture-final/approval-review.png, exact displayed consequential approval dialog in design-final carrier. The capture precedes the explicit confirmation. Final v9 capture: /tmp/roadstar-polish/capture/approval-review.png. Current and proposed drivers and equipment are shown before confirmation. Driver acceptance is separate. Checks and assumptions remain available in the disclosure. Final v9 source supersedes previous frame: /tmp/roadstar-polish/final-capture/approval-review.png, deployment 00017-bj6. Same explicit current-to-proposed dialog before confirmation. Third-pass image: actual approval-review capture from frozen cloud 00020-8l2, cropped to the dialog. Driver acceptance remains a separate command.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Native API35 Android emulator testing: Firebase login, offline acceptance, force-stop, restored session/downloaded trip/note/pending key, reconnect to accepted version2. Physical device background location and native iOS remain unverified. Current visual: actual September 10 Android API35 emulator Today screen. RS1043 accepted, pickup already completed, delivery is next. The screenshot does not claim a newly completed delivery or a new offline acceptance test. Density refresh: final native screenshot mobile/34-today-frozen.png, consistent RoadStar case and compact header. State remains accepted with delivery next. Final source freeze uses mobile/41-today-final.png. Compact one-row identity header and explicit synthetic scenario label. Original facility values remain unchanged underneath their shortened display labels. Final review-pass capture: mobile/56-today-frozen-review-pass.png. Same accepted trip state, pickup completed and delivery next; this capture is not new offline-acceptance verification. Final v9 capture supersedes the prior frame: mobile/60-today-density-final.png. Compact single-row header; accepted trip and delivery-next state unchanged.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seconds. Show original synthetic PDF and reviewed fields. Source hash/model output retained. Same-stop arrival/departure samples and configured terms produce draft. Human approval retains draft and creates new revision; no payment. Source: docs/evidence/cloud-document-extraction.json and actual cloud billing capture. Visual: retained actual synthetic cloud billing panel, cropped to the stop record and draft/approved revisions without changing content. Density refresh source: cloud-current/web-billing-panel.png. Same approved revision and original draft, original amounts and observed precision preserved.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seconds. Real OR-Tools with Valhalla truck matrix produced two LTL pickups and two deliveries. Cloud planning-demo approved, accepted and completed global order. Three vehicle-resource reservations stay active until every load completes. Synthetic26-pallet allowance disclosed. Source: docs/evidence/cloud-planning-verification.json and tests/group-road.test.ts. Visual: retained actual planning-demo completed two-load, four-stop manifest in the redesigned UI. Density refresh source: cloud-current/web-completed-manifest.png. Same actual completed two-load/four-stop fixture.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Imported15197 rows locally only.82 exact duplicates in Dispatch. Source originals, missing fields and historical dates retained. No customer rows shown or uploaded. Source: docs/evidence/workbook-import.json.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Cloud Run Fastify owns state changes. Dedicated PG16/PostGIS owns truth; ORTools/Valhalla compute; Vertex extracts; independent simulator posts synthetic events. API accepts no AI approval. See infra/gcp/README.md and services/api/src/store.ts. Third-pass architecture clarifies that OR-Tools/Valhalla proposals and Gemini document extraction are supporting capabilities used by the API. The lower section expresses those capabilities without depicting a new transaction 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seconds. Cloud benchmark: 524 telemetry and synchronization pairs, no failures, acknowledged-write-to-snapshot p95 5,448 ms. A separate five-pair local browser comparison observed eight scripted activations and two requests for manual resource assembly versus two activations and one request for ranked recovery. Both selected the same feasible resources; ranked recovery retained the rejected HOS reason. These are after-login automation counts and local execution timings, not dispatcher task time, carrier savings or production latency. Sources: docs/evidence/cloud-load-test-131-after-concurrency.json and docs/evidence/workflow-comparison-2026-09-12/verification.json. HOS remains a planning aid rather than a certified ELD; physical Android and native iOS remain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seconds. Ask carrier to evaluate complete recovery workflow with permissioned operational input. Physicalhardwarecurrentlyunavailable. No invented customer adoption, measuredsavings or revenue. Full testinginstructions in local submission handoff.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120 seconds. Optional2 minutes. PostgreSQL btree_gist exclusion onresourceperiods. Commands have stableidempotencykey+expectedversion; staleproposal yields conflictbeforemutation. Per-carrier exclusivecommands sharedtelemetrytriplocks; eventinsertionlock ensurescommitordercursor. Explain rollback boundaries and carrier membership.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180 seconds. Optional3 minutes. Simulator actualroadroute, constantspeed/dockwaitassumptions. Identicalstartingconditionshash; scenario clocks neveroverwriteoperationtime. Duplicate/outoforder retained withoutdoublecount; entireaccuracydisc determinesinside/outside; uncertainboundarynotarrival. Benchmark burstbarrier/warmdataqualifiers.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accepted check counts: 106 backend, 50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146e90402e47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365051ce9c4de9" /><Relationship Type="http://schemas.openxmlformats.org/officeDocument/2006/relationships/slideLayout" Target="/ppt/slideLayouts/slideLayout1.xml" Id="R37678398267b43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678398267b43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9d688f1524a80" /><Relationship Type="http://schemas.openxmlformats.org/officeDocument/2006/relationships/image" Target="/ppt/media/image.png" Id="R8717b160fc0241e2" /><Relationship Type="http://schemas.openxmlformats.org/officeDocument/2006/relationships/image" Target="/ppt/media/image2.png" Id="R9566382691604c12" /><Relationship Type="http://schemas.openxmlformats.org/officeDocument/2006/relationships/image" Target="/ppt/media/image.svg" Id="R5c7d8a758ff542cb" /><Relationship Type="http://schemas.openxmlformats.org/officeDocument/2006/relationships/notesSlide" Target="/ppt/notesSlides/notesSlide1.xml" Id="R98c1f521b85849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8d5bd07344798" /><Relationship Type="http://schemas.openxmlformats.org/officeDocument/2006/relationships/notesSlide" Target="/ppt/notesSlides/notesSlide2.xml" Id="R69eddad7a6fb49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279fd9150a4cb2" /><Relationship Type="http://schemas.openxmlformats.org/officeDocument/2006/relationships/image" Target="/ppt/media/image3.png" Id="Rc7e99db364b14357" /><Relationship Type="http://schemas.openxmlformats.org/officeDocument/2006/relationships/notesSlide" Target="/ppt/notesSlides/notesSlide3.xml" Id="R38f95a9cb47c44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9c34a74d454a60" /><Relationship Type="http://schemas.openxmlformats.org/officeDocument/2006/relationships/image" Target="/ppt/media/image4.png" Id="R9170dc3dd0484067" /><Relationship Type="http://schemas.openxmlformats.org/officeDocument/2006/relationships/notesSlide" Target="/ppt/notesSlides/notesSlide4.xml" Id="R8ca3b3eea6f046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95a3667f54d0f" /><Relationship Type="http://schemas.openxmlformats.org/officeDocument/2006/relationships/image" Target="/ppt/media/image5.png" Id="R9d322467077143f7" /><Relationship Type="http://schemas.openxmlformats.org/officeDocument/2006/relationships/notesSlide" Target="/ppt/notesSlides/notesSlide5.xml" Id="R45300d3933fa4a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79fcd0b2545ff" /><Relationship Type="http://schemas.openxmlformats.org/officeDocument/2006/relationships/image" Target="/ppt/media/image6.png" Id="Rc6512876d4ae412d" /><Relationship Type="http://schemas.openxmlformats.org/officeDocument/2006/relationships/notesSlide" Target="/ppt/notesSlides/notesSlide6.xml" Id="R100fd99ee02347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012a04370444c" /><Relationship Type="http://schemas.openxmlformats.org/officeDocument/2006/relationships/image" Target="/ppt/media/image7.png" Id="Rf53a439b9e514ce0" /><Relationship Type="http://schemas.openxmlformats.org/officeDocument/2006/relationships/notesSlide" Target="/ppt/notesSlides/notesSlide7.xml" Id="Ra33f5ce9cf7a46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fc34850df4ae3" /><Relationship Type="http://schemas.openxmlformats.org/officeDocument/2006/relationships/notesSlide" Target="/ppt/notesSlides/notesSlide8.xml" Id="Re46a3dc61f914a1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0ee043efe4aef" /><Relationship Type="http://schemas.openxmlformats.org/officeDocument/2006/relationships/notesSlide" Target="/ppt/notesSlides/notesSlide9.xml" Id="Rca8e73cb3d3845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7cb2a93d54a4c" /><Relationship Type="http://schemas.openxmlformats.org/officeDocument/2006/relationships/notesSlide" Target="/ppt/notesSlides/notesSlide10.xml" Id="Reb3768c93700452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d189ca9ceb4502" /><Relationship Type="http://schemas.openxmlformats.org/officeDocument/2006/relationships/image" Target="/ppt/media/image8.png" Id="R6ab6f1d078e54a00" /><Relationship Type="http://schemas.openxmlformats.org/officeDocument/2006/relationships/notesSlide" Target="/ppt/notesSlides/notesSlide11.xml" Id="Rc8fed9b247c4410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6307c1bb045d7" /><Relationship Type="http://schemas.openxmlformats.org/officeDocument/2006/relationships/notesSlide" Target="/ppt/notesSlides/notesSlide12.xml" Id="Re036b771e62946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a0a26dc13468e" /><Relationship Type="http://schemas.openxmlformats.org/officeDocument/2006/relationships/notesSlide" Target="/ppt/notesSlides/notesSlide13.xml" Id="R7804a64ee18545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FF40E-8D53-45FE-A8F9-71BE927E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b160fc0241e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6382691604c12">
            <a:extLst>
              <a:ext uri="{96DAC541-7B7A-43D3-8B79-37D633B846F1}">
                <asvg:svgBlip xmlns:asvg="http://schemas.microsoft.com/office/drawing/2016/SVG/main" r:embed="R5c7d8a758ff542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8175" y="933450"/>
            <a:ext cx="542925" cy="6096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4323C-DC3B-4342-89FF-030E3549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714375"/>
            <a:ext cx="57150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8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68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5D690-0463-41A7-A3AD-FE6E190F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15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Dispatch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027BC-06EF-446E-B5AD-B21EAB80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524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Carrier decisions. Driver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76D21C-A0B9-494C-BD57-383B9329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50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3836412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DB0928-70AA-429E-9058-99B849D4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FFF1A5-4809-473C-8800-D8371BB5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6000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A dock delay</a:t>
            </a:r>
          </a:p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reaches the</a:t>
            </a:r>
          </a:p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7FE533-50DB-4AAD-AEDB-BE42CAAE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43450"/>
            <a:ext cx="5524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dispatcher must reconnect the next assignment with available resources.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A0B99-9BE6-46DF-AF0D-73F4385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049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7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Dock delay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DA382-AABB-4BD3-99A4-726C4DB4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575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7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cxnSp>
        <p:nvCxnSpPr>
          <p:cNvPr id="15" name=""/>
          <p:cNvCxnSpPr>
            <a:stCxn xmlns:a="http://schemas.openxmlformats.org/drawingml/2006/main" id="4" idx="1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696200" y="1838325"/>
            <a:ext cx="0" cy="155257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E65C32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A4924-6E24-45B0-8EB8-451733EE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3050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5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Current truck is still committed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9E4D4E-BAFF-43DE-9C8B-E21B3F34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905250"/>
            <a:ext cx="29527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Driver</a:t>
            </a:r>
          </a:p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Truck</a:t>
            </a:r>
          </a:p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Trailer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E0C8B6-E051-4E76-A81F-F2AE12E1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924550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Illustrative dispatch scenario</a:t>
            </a:r>
          </a:p>
        </p:txBody>
      </p:sp>
    </p:spTree>
    <p:extLst>
      <p:ext uri="{BB962C8B-B14F-4D97-AF65-F5344CB8AC3E}">
        <p14:creationId xmlns:p14="http://schemas.microsoft.com/office/powerpoint/2010/main" val="11312451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B8821B-1DFA-4EC5-A030-69AFBE14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E6F048-25F6-4325-A175-DDB8061F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Recovery rehearsal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EBA528-46CB-4A33-922C-1F4BAB74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4777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delayed departure makes the next assignment visible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99db364b14357"/>
          <a:stretch xmlns:a="http://schemas.openxmlformats.org/drawingml/2006/main"/>
        </p:blipFill>
        <p:spPr>
          <a:xfrm xmlns:a="http://schemas.openxmlformats.org/drawingml/2006/main">
            <a:off x="676275" y="2000250"/>
            <a:ext cx="10839450" cy="1676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F05DA3-7004-4716-9F1A-26323CDA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76700"/>
            <a:ext cx="34385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12:00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0AA2C-9F34-4624-AA34-79A9FAE0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38725"/>
            <a:ext cx="3295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Planned departure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D41E2-0D91-426E-B32F-2074C46E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076700"/>
            <a:ext cx="34385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13:30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71593F-D044-400D-B098-57C57091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0387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Expected departure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BE663C-EF45-4472-8BBF-88B761E3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76700"/>
            <a:ext cx="31527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12:15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AF70AB-0D61-45BF-ACF3-E7243080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38725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684BED-B2DE-495C-8F42-515C2D4B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00775"/>
            <a:ext cx="1038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Synthetic scenario. Times in ET. Actual Ontario truck routing supports the recovery.</a:t>
            </a:r>
          </a:p>
        </p:txBody>
      </p:sp>
    </p:spTree>
    <p:extLst>
      <p:ext uri="{BB962C8B-B14F-4D97-AF65-F5344CB8AC3E}">
        <p14:creationId xmlns:p14="http://schemas.microsoft.com/office/powerpoint/2010/main" val="3460796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382EC3-85F0-44F8-BD56-28A2B804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5C3610-4DC8-431C-AFD1-3D16B487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5334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Approval</a:t>
            </a:r>
          </a:p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against current</a:t>
            </a:r>
          </a:p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5D6D3-C558-4FF9-A29E-B0D5B0E1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766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The server rechecks the proposal at the moment of approval.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0C728-575A-43FC-BBA7-B8ECC59A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720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Versions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68C40-CBF4-46D3-A7F7-678DD467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102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Availability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817ECD-F91D-4DED-B3E2-B4D7ADC6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8483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Atomic reservations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70dc3dd0484067"/>
          <a:stretch xmlns:a="http://schemas.openxmlformats.org/drawingml/2006/main"/>
        </p:blipFill>
        <p:spPr>
          <a:xfrm xmlns:a="http://schemas.openxmlformats.org/drawingml/2006/main">
            <a:off x="5600700" y="1028700"/>
            <a:ext cx="5905500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352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6B17F8-BF66-4EFA-8544-B152034F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110953-F6A5-42B6-A54A-9430A34D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85800"/>
            <a:ext cx="6667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7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47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The driver</a:t>
            </a:r>
          </a:p>
          <a:p xmlns:a="http://schemas.openxmlformats.org/drawingml/2006/main">
            <a:pPr>
              <a:defRPr sz="47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47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keeps the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BC108F-D9EE-4EB7-9015-F4B51D8D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336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Acceptance stays visible through an offline interruption.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5F3D9-B60B-437A-8B37-0A831F46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671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1F36F1-DE25-436A-A7D4-AD113156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867150"/>
            <a:ext cx="4619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Pending while offline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08FA5-BADB-4F47-A71B-D54C8797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910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63BB0-D346-4ED7-BC2D-09744DC2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591050"/>
            <a:ext cx="5191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Trip and draft survive termination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5A08DE-C676-4C01-9B24-4DD391B5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3149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F03F2-4B6B-43D3-A5A9-59846CEB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5314950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Server confirms the command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322467077143f7"/>
          <a:stretch xmlns:a="http://schemas.openxmlformats.org/drawingml/2006/main"/>
        </p:blipFill>
        <p:spPr>
          <a:xfrm xmlns:a="http://schemas.openxmlformats.org/drawingml/2006/main">
            <a:off x="7946708" y="266700"/>
            <a:ext cx="2794635" cy="62103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0AC6C-8EF0-45B7-8B45-8B70F2C3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Android emulator verified. Physical phone and native iOS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17586577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EC003F-20FC-4051-AB09-FB42DC1C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E9FA49-33D0-4B5D-9014-432F4E1E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Documents and detention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6B8AE1-8E32-4C8B-A6D1-5EB4A670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763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reviewed revision keeps the original draft in view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12876d4ae412d"/>
          <a:stretch xmlns:a="http://schemas.openxmlformats.org/drawingml/2006/main"/>
        </p:blipFill>
        <p:spPr>
          <a:xfrm xmlns:a="http://schemas.openxmlformats.org/drawingml/2006/main">
            <a:off x="836768" y="2085975"/>
            <a:ext cx="10518464" cy="4057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0BC65-446C-49C1-B79C-6C7A4825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19825"/>
            <a:ext cx="1038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Observed samples require review. Billing approval does not initiate payment.</a:t>
            </a:r>
          </a:p>
        </p:txBody>
      </p:sp>
    </p:spTree>
    <p:extLst>
      <p:ext uri="{BB962C8B-B14F-4D97-AF65-F5344CB8AC3E}">
        <p14:creationId xmlns:p14="http://schemas.microsoft.com/office/powerpoint/2010/main" val="20547133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14BBC-B182-425C-BC0D-A62A5699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66428-F290-41E6-BA0C-41D28C5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561975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6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2 loads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A190A-0176-458C-8269-85136232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5715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1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4 ordered stops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0D5AD6-61FB-4FD9-8C31-285E37EA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447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One vehicle pairing</a:t>
            </a:r>
          </a:p>
          <a:p xmlns:a="http://schemas.openxmlformats.org/drawingml/2006/main">
            <a:pPr>
              <a:defRPr sz="22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One approval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a439b9e514ce0"/>
          <a:stretch xmlns:a="http://schemas.openxmlformats.org/drawingml/2006/main"/>
        </p:blipFill>
        <p:spPr>
          <a:xfrm xmlns:a="http://schemas.openxmlformats.org/drawingml/2006/main">
            <a:off x="6000750" y="920413"/>
            <a:ext cx="5667375" cy="498859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D0CF4-6C18-4FA6-BF60-C3ACC9D3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67325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Reservations stay active until every load completes.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DDE59D-D32B-419C-AEA0-D5177C84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579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Synthetic pallet capacity disclosed</a:t>
            </a:r>
          </a:p>
        </p:txBody>
      </p:sp>
    </p:spTree>
    <p:extLst>
      <p:ext uri="{BB962C8B-B14F-4D97-AF65-F5344CB8AC3E}">
        <p14:creationId xmlns:p14="http://schemas.microsoft.com/office/powerpoint/2010/main" val="15583563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8F892A-10A2-4B81-BAF0-6D44C360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0D46B-2C8C-4927-90EE-6FD27455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All five sheets retain lineage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D67936-97FD-4D78-9A0C-7901FF5F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05000"/>
            <a:ext cx="5429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0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80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15,197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15136-750A-405F-A3AD-5E02AA25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19475"/>
            <a:ext cx="457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4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source rows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2E17B4-E0E6-435A-B40B-104AEC17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19600"/>
            <a:ext cx="6000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07A71-AEEA-4C17-8618-039D6D53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4743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exact Dispatch duplicates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0185DE-D999-4105-8B3B-73B789B0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886325"/>
            <a:ext cx="5191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Historical provenance preserved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Private source data stays local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467475" y="1714500"/>
          <a:ext xmlns:a="http://schemas.openxmlformats.org/drawingml/2006/main" cx="5029200" cy="3886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885950"/>
              </a:tblGrid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666962"/>
                          </a:solidFill>
                          <a:latin typeface="Manrope"/>
                          <a:ea typeface="Manrope"/>
                          <a:cs typeface="Manrope"/>
                        </a:rPr>
                        <a:t>Sheet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F5F3ED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>
                          <a:solidFill>
                            <a:srgbClr val="666962"/>
                          </a:solidFill>
                          <a:latin typeface="Manrope"/>
                          <a:ea typeface="Manrope"/>
                          <a:cs typeface="Manrope"/>
                        </a:rPr>
                        <a:t>Rows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F5F3ED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Tlorder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4,031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Dispatch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10,479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Driver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Trucks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Trailers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F5F3ED"/>
                      </a:solidFill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425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F5F3ED"/>
                      </a:solidFill>
                    </a:lnB>
                    <a:solidFill>
                      <a:srgbClr val="F5F3ED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CB42D-E9E3-423C-A09C-FBD14ECA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00775"/>
            <a:ext cx="1038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Public preview uses labeled synthetic operational scenarios.</a:t>
            </a:r>
          </a:p>
        </p:txBody>
      </p:sp>
    </p:spTree>
    <p:extLst>
      <p:ext uri="{BB962C8B-B14F-4D97-AF65-F5344CB8AC3E}">
        <p14:creationId xmlns:p14="http://schemas.microsoft.com/office/powerpoint/2010/main" val="9523100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98EF19-D257-4822-91B1-2052BC6E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FEF267-9039-4704-B728-6091FA36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One operational 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489C85-A92F-4215-AFCD-ABF5D16D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145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CLIENTS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0EFF10-AF7C-44EC-8ED3-88437CFE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145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COMMANDS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C7A8C-DBC9-4D0B-88C2-651EF5A7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9145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STORAGE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6CF03-96C7-40CB-8A16-6F4AE7DB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57450"/>
            <a:ext cx="276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Web + mobile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EDD7E3-9632-4220-893C-350415E1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57450"/>
            <a:ext cx="26765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Fastify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C47C9-EF6B-4C2E-AD64-F2CDF9F5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457450"/>
            <a:ext cx="2809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PostgreSQL</a:t>
            </a:r>
          </a:p>
        </p:txBody>
      </p:sp>
      <p:cxnSp>
        <p:nvCxnSpPr>
          <p:cNvPr id="2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381375" y="2781300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6962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267575" y="2781300"/>
            <a:ext cx="1485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65C32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4E00C8-67D0-4281-9FE9-1D05FA48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390900"/>
            <a:ext cx="3048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React dispatcher UI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Expo driver 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C9A9C-15C2-4BB5-B4C1-C4630417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90900"/>
            <a:ext cx="3238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Firebase identity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Carrier membership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Validated commands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3ACAF2-33F7-46E4-ACDE-2A62405F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390900"/>
            <a:ext cx="2714625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Versions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Reservations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7E6C-05B9-4152-AE9A-14CCF2B5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057775"/>
            <a:ext cx="10801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DD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B48BD3-87A1-4B0F-9925-C6A62842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101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725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Supporting capabilities used by the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48F53B-C7D8-4FD8-9D91-F83B67BE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67375"/>
            <a:ext cx="5886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Proposals: OR-Tools + Valhalla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A8EB9A-7574-469B-8E66-122D0152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667375"/>
            <a:ext cx="485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Documents: Gemini extraction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AE847B-8CBF-46FB-95DE-44A92B89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20077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42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Independent replay clock · Approval remains an explicit command.</a:t>
            </a:r>
          </a:p>
        </p:txBody>
      </p:sp>
    </p:spTree>
    <p:extLst>
      <p:ext uri="{BB962C8B-B14F-4D97-AF65-F5344CB8AC3E}">
        <p14:creationId xmlns:p14="http://schemas.microsoft.com/office/powerpoint/2010/main" val="2699412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AB904F-8F56-4D34-A8E0-FC078B6A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3FB8F-5E60-4907-8A69-C07D118A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Measured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752442-AB2E-4653-A836-41FCA112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90675"/>
            <a:ext cx="6257925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5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95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5.4 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B2303E-4B12-43FC-A75F-F4E125CD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09950"/>
            <a:ext cx="61436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p95 acknowledgement-to-snapshot lag</a:t>
            </a:r>
          </a:p>
          <a:p xmlns:a="http://schemas.openxmlformats.org/drawingml/2006/main">
            <a:pPr>
              <a:defRPr sz="21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in the 131-driver cloud burst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FA232B-DF6B-4781-8E33-BD7CFE94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866900"/>
            <a:ext cx="342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E65C32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E65C32"/>
                </a:solidFill>
                <a:latin typeface="Manrope"/>
                <a:ea typeface="Manrope"/>
                <a:cs typeface="Manrope"/>
              </a:rPr>
              <a:t>524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184BB-1706-4A1E-9668-029F3FAD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38450"/>
            <a:ext cx="35242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telemetry + synchronization pairs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Zero failed commands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D97AE-D88E-41A5-90DF-276F813C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762500"/>
            <a:ext cx="63055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Manual 8 / ranked 2 activations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Manual 2 / ranked 1 recovery requests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Five matched synthetic browser pairs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E3D7C-4E33-4A46-8596-F486E40C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076950"/>
            <a:ext cx="630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After login. Scripted counts, not human task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56CCF0-B031-4FC4-B038-D3011B51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695825"/>
            <a:ext cx="35147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Physical background location and native iOS still need testing.</a:t>
            </a:r>
          </a:p>
          <a:p xmlns:a="http://schemas.openxmlformats.org/drawingml/2006/main">
            <a:pPr>
              <a:defRPr sz="172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Declared duty budgets are not a certified ELD.</a:t>
            </a:r>
          </a:p>
        </p:txBody>
      </p:sp>
    </p:spTree>
    <p:extLst>
      <p:ext uri="{BB962C8B-B14F-4D97-AF65-F5344CB8AC3E}">
        <p14:creationId xmlns:p14="http://schemas.microsoft.com/office/powerpoint/2010/main" val="16680994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7DA67A-2611-4EAA-BE41-8DC845A8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11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6f1d078e54a0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86A70-7017-4238-AB21-0C16074C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66750"/>
            <a:ext cx="6858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Next carrier</a:t>
            </a:r>
          </a:p>
          <a:p xmlns:a="http://schemas.openxmlformats.org/drawingml/2006/main">
            <a:pPr>
              <a:defRPr sz="49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0795E-7E20-407A-B2BC-FBC9DB3F4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90875"/>
            <a:ext cx="58578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Physical device validation</a:t>
            </a:r>
          </a:p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Carrier inputs and facility review</a:t>
            </a:r>
          </a:p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Measured dispatcher and driver use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60FEED-5ACC-40A9-95E2-42663FFD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48375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roadstar-web-739889188415.us-central1.run.app</a:t>
            </a:r>
          </a:p>
        </p:txBody>
      </p:sp>
    </p:spTree>
    <p:extLst>
      <p:ext uri="{BB962C8B-B14F-4D97-AF65-F5344CB8AC3E}">
        <p14:creationId xmlns:p14="http://schemas.microsoft.com/office/powerpoint/2010/main" val="10190900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07641B-4262-4754-94B4-F74ACAC8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A4B246-DB50-4334-A567-30163E3F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Concurrent approval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8119B-ABF3-4756-BAE2-D730A846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3335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stable command key and expected version protect the same intent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93BD8-AA14-491F-8838-EC922413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Command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8FB52B-B52F-4695-95D7-EBC751DB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47950"/>
            <a:ext cx="25431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45C97-62D6-496F-8ACD-78AEC937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47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Commit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24200" y="2895600"/>
            <a:ext cx="15144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CDDD5"/>
            </a:solidFill>
            <a:prstDash val="solid"/>
          </a:ln>
        </p:spPr>
      </p:cxn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181850" y="2895600"/>
            <a:ext cx="1581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65C32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078855-9310-4F19-A953-9B670CB5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304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Identity and version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Stable idempotency 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240DC-8DE8-4A4E-81C4-920154D1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609975"/>
            <a:ext cx="33242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Current availability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Resource exclusion constraints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4D95FB-FE5E-4A81-94DD-B4118D8D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609975"/>
            <a:ext cx="28860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Atomic reservations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Commit-ordered 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45BBAA-437D-43AF-A07F-006D30959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667375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stale proposal conflicts before mutation. A repeated key returns its original result.</a:t>
            </a:r>
          </a:p>
        </p:txBody>
      </p:sp>
    </p:spTree>
    <p:extLst>
      <p:ext uri="{BB962C8B-B14F-4D97-AF65-F5344CB8AC3E}">
        <p14:creationId xmlns:p14="http://schemas.microsoft.com/office/powerpoint/2010/main" val="5143059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5E57-F9B5-45FD-91D6-B94B9D88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69462-D992-48A3-83FE-96197629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Replay and telemetry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9131F1-0931-466B-B1A8-F1DF47D9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43100"/>
            <a:ext cx="5010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Replay conditions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7BB7A1-5DF1-46AC-9C01-06E07DE9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943100"/>
            <a:ext cx="50387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Telemetry interpretation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0A21E-AAA2-407A-8FD6-BB68ADCD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24175"/>
            <a:ext cx="48863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Recorded starting conditions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Disclosed dock wait and road assumptions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An independent scenario clock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A428E8-B9E6-4611-88B9-E2702D53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24175"/>
            <a:ext cx="49244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Duplicate samples do not double-count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Out-of-order samples retain history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Uncertain boundaries stay uncertain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E8382B-593D-48E8-8F4D-8F497E0E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Operational outcomes remain separate from modeled savings.</a:t>
            </a:r>
          </a:p>
        </p:txBody>
      </p:sp>
    </p:spTree>
    <p:extLst>
      <p:ext uri="{BB962C8B-B14F-4D97-AF65-F5344CB8AC3E}">
        <p14:creationId xmlns:p14="http://schemas.microsoft.com/office/powerpoint/2010/main" val="1082312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2026-09-12T22:27:17.4650000Z</dcterms:created>
  <dcterms:modified xsi:type="dcterms:W3CDTF">2026-09-12T22:27:17.4650000Z</dcterms:modified>
</coreProperties>
</file>