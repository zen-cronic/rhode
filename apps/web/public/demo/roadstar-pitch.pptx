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b32ebd09594194" /><Relationship Type="http://schemas.openxmlformats.org/officeDocument/2006/relationships/extended-properties" Target="/docProps/app.xml" Id="R515f5ba1fbe94aab" /><Relationship Type="http://schemas.openxmlformats.org/officeDocument/2006/relationships/officeDocument" Target="/ppt/presentation.xml" Id="R33dacb0a44cb46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3f7fecb1434b22"/>
  </p:sldMasterIdLst>
  <p:notesMasterIdLst>
    <p:notesMasterId xmlns:r="http://schemas.openxmlformats.org/officeDocument/2006/relationships" r:id="R464a4da4743f4e00"/>
  </p:notesMasterIdLst>
  <p:sldIdLst>
    <p:sldId xmlns:r="http://schemas.openxmlformats.org/officeDocument/2006/relationships" id="256" r:id="R0770afa176e74409"/>
    <p:sldId xmlns:r="http://schemas.openxmlformats.org/officeDocument/2006/relationships" id="257" r:id="R7040dbdccf3d4f18"/>
    <p:sldId xmlns:r="http://schemas.openxmlformats.org/officeDocument/2006/relationships" id="258" r:id="Rc4dfa5b1755346d4"/>
    <p:sldId xmlns:r="http://schemas.openxmlformats.org/officeDocument/2006/relationships" id="259" r:id="R86e848fe65a648c8"/>
    <p:sldId xmlns:r="http://schemas.openxmlformats.org/officeDocument/2006/relationships" id="260" r:id="R0e9d7f229df945fd"/>
    <p:sldId xmlns:r="http://schemas.openxmlformats.org/officeDocument/2006/relationships" id="261" r:id="R98649750f5424d3f"/>
    <p:sldId xmlns:r="http://schemas.openxmlformats.org/officeDocument/2006/relationships" id="262" r:id="Re5f3aa3080a54f4e"/>
    <p:sldId xmlns:r="http://schemas.openxmlformats.org/officeDocument/2006/relationships" id="263" r:id="Rdbb35cad1f2541fd"/>
    <p:sldId xmlns:r="http://schemas.openxmlformats.org/officeDocument/2006/relationships" id="264" r:id="R95b995f051a346eb"/>
    <p:sldId xmlns:r="http://schemas.openxmlformats.org/officeDocument/2006/relationships" id="265" r:id="R634291f839494c1d"/>
    <p:sldId xmlns:r="http://schemas.openxmlformats.org/officeDocument/2006/relationships" id="266" r:id="R299bae4f79fe42a0"/>
    <p:sldId xmlns:r="http://schemas.openxmlformats.org/officeDocument/2006/relationships" id="267" r:id="R591882dad1cc4c6d"/>
    <p:sldId xmlns:r="http://schemas.openxmlformats.org/officeDocument/2006/relationships" id="268" r:id="R5976d0e6bc034e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8236b4379f4cea" /><Relationship Type="http://schemas.openxmlformats.org/officeDocument/2006/relationships/slideMaster" Target="/ppt/slideMasters/slideMaster1.xml" Id="R573f7fecb1434b22" /><Relationship Type="http://schemas.openxmlformats.org/officeDocument/2006/relationships/notesMaster" Target="/ppt/notesMasters/notesMaster1.xml" Id="R464a4da4743f4e00" /><Relationship Type="http://schemas.openxmlformats.org/officeDocument/2006/relationships/presProps" Target="/ppt/presProps.xml" Id="R178a8295edcb4a4e" /><Relationship Type="http://schemas.openxmlformats.org/officeDocument/2006/relationships/tableStyles" Target="/ppt/tableStyles.xml" Id="R43f1f918af1b4f2e" /><Relationship Type="http://schemas.openxmlformats.org/officeDocument/2006/relationships/slide" Target="/ppt/slides/slide1.xml" Id="R0770afa176e74409" /><Relationship Type="http://schemas.openxmlformats.org/officeDocument/2006/relationships/slide" Target="/ppt/slides/slide2.xml" Id="R7040dbdccf3d4f18" /><Relationship Type="http://schemas.openxmlformats.org/officeDocument/2006/relationships/slide" Target="/ppt/slides/slide3.xml" Id="Rc4dfa5b1755346d4" /><Relationship Type="http://schemas.openxmlformats.org/officeDocument/2006/relationships/slide" Target="/ppt/slides/slide4.xml" Id="R86e848fe65a648c8" /><Relationship Type="http://schemas.openxmlformats.org/officeDocument/2006/relationships/slide" Target="/ppt/slides/slide5.xml" Id="R0e9d7f229df945fd" /><Relationship Type="http://schemas.openxmlformats.org/officeDocument/2006/relationships/slide" Target="/ppt/slides/slide6.xml" Id="R98649750f5424d3f" /><Relationship Type="http://schemas.openxmlformats.org/officeDocument/2006/relationships/slide" Target="/ppt/slides/slide7.xml" Id="Re5f3aa3080a54f4e" /><Relationship Type="http://schemas.openxmlformats.org/officeDocument/2006/relationships/slide" Target="/ppt/slides/slide8.xml" Id="Rdbb35cad1f2541fd" /><Relationship Type="http://schemas.openxmlformats.org/officeDocument/2006/relationships/slide" Target="/ppt/slides/slide9.xml" Id="R95b995f051a346eb" /><Relationship Type="http://schemas.openxmlformats.org/officeDocument/2006/relationships/slide" Target="/ppt/slides/slide10.xml" Id="R634291f839494c1d" /><Relationship Type="http://schemas.openxmlformats.org/officeDocument/2006/relationships/slide" Target="/ppt/slides/slide11.xml" Id="R299bae4f79fe42a0" /><Relationship Type="http://schemas.openxmlformats.org/officeDocument/2006/relationships/slide" Target="/ppt/slides/slide12.xml" Id="R591882dad1cc4c6d" /><Relationship Type="http://schemas.openxmlformats.org/officeDocument/2006/relationships/slide" Target="/ppt/slides/slide13.xml" Id="R5976d0e6bc034e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a296668b014c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db391f4bc94854" /><Relationship Type="http://schemas.openxmlformats.org/officeDocument/2006/relationships/notesMaster" Target="/ppt/notesMasters/notesMaster1.xml" Id="Re808d2bfc57d4f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ba4258e4ca433f" /><Relationship Type="http://schemas.openxmlformats.org/officeDocument/2006/relationships/notesMaster" Target="/ppt/notesMasters/notesMaster1.xml" Id="Ree20a3c4e1144b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8d8bfe864344d3" /><Relationship Type="http://schemas.openxmlformats.org/officeDocument/2006/relationships/notesMaster" Target="/ppt/notesMasters/notesMaster1.xml" Id="Rddaa1028767843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16965202724e07" /><Relationship Type="http://schemas.openxmlformats.org/officeDocument/2006/relationships/notesMaster" Target="/ppt/notesMasters/notesMaster1.xml" Id="R66e3618078344f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85c2e099144622" /><Relationship Type="http://schemas.openxmlformats.org/officeDocument/2006/relationships/notesMaster" Target="/ppt/notesMasters/notesMaster1.xml" Id="Rfe6083e80ef24d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26fc5a2af24bdc" /><Relationship Type="http://schemas.openxmlformats.org/officeDocument/2006/relationships/notesMaster" Target="/ppt/notesMasters/notesMaster1.xml" Id="Re7e9064c938e4a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d5af3eb3d645ee" /><Relationship Type="http://schemas.openxmlformats.org/officeDocument/2006/relationships/notesMaster" Target="/ppt/notesMasters/notesMaster1.xml" Id="Ra635cc21062d45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8e5a8d34a642ec" /><Relationship Type="http://schemas.openxmlformats.org/officeDocument/2006/relationships/notesMaster" Target="/ppt/notesMasters/notesMaster1.xml" Id="R11819e3c669342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3d2349070f4660" /><Relationship Type="http://schemas.openxmlformats.org/officeDocument/2006/relationships/notesMaster" Target="/ppt/notesMasters/notesMaster1.xml" Id="Rcd03c7e3134a42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b0c5aa1bd244b3" /><Relationship Type="http://schemas.openxmlformats.org/officeDocument/2006/relationships/notesMaster" Target="/ppt/notesMasters/notesMaster1.xml" Id="Rcf44ae70097849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32b71491f64878" /><Relationship Type="http://schemas.openxmlformats.org/officeDocument/2006/relationships/notesMaster" Target="/ppt/notesMasters/notesMaster1.xml" Id="Rcd89f3e5ec0546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20e8c3360f4bcc" /><Relationship Type="http://schemas.openxmlformats.org/officeDocument/2006/relationships/notesMaster" Target="/ppt/notesMasters/notesMaster1.xml" Id="R5c665608e01949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d273753f42a425e" /><Relationship Type="http://schemas.openxmlformats.org/officeDocument/2006/relationships/notesMaster" Target="/ppt/notesMasters/notesMaster1.xml" Id="R9b5e49f4100d4e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Introduce carrier dispatch recovery. Demonstration records are synthetic. Show actual app immediately after this opening. No customer records are published.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Explain a dispatcher coordinating resource commitments. This is a scenario, not an estimate of industry-wide cost or frequency.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Switch to live cloud film-demo or downloaded recording. Record expected departure and inspect the affected next load. Sources: actual RoadStar cloud browser capture, docs/evidence/cloud-auth-smoke.json.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Show current assignment and proposed D02/T102/V102. Approval rechecks versions and availability, then commits reservations and driver offer atomically. Source: tests/postgres.test.ts and actual cloud recovery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Native API35 Android emulator testing: Firebase login, offline acceptance, force-stop, restored session/downloaded trip/note/pending key, reconnect to accepted version2. Physical device background location and native iOS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seconds. Show original synthetic PDF and reviewed fields. Source hash/model output retained. Same-stop arrival/departure samples and configured terms produce draft. Human approval retains draft and creates new revision; no payment. Source: docs/evidence/cloud-document-extraction.json and actual cloud billing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Real OR-Tools with Valhalla truck matrix produced two LTL pickups and two deliveries. Cloud planning-demo approved, accepted and completed global order. Three vehicle-resource reservations stay active until every load completes. Synthetic26-pallet allowance disclosed. Source: docs/evidence/cloud-planning-verification.json and tests/group-road.test.ts.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Imported15197 rows locally only.82 exact duplicates in Dispatch. Source originals, missing fields and historical dates retained. No customer rows shown or uploaded. Source: docs/evidence/workbook-import.json.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Cloud Run Fastify owns state changes. Dedicated PG16/PostGIS owns truth; ORTools/Valhalla compute; Vertex extracts; independent simulator posts synthetic events. API accepts no AI approval. See infra/gcp/README.md and services/api/src/store.ts.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Do not claim complete legal HOS, guaranteed2s latency, realdevice/iOS or productioncapacity. Cloud benchmark524 telemetry+524syncpairs, no failures, ownacktosnapshotp955448ms. Real-road group integration separate enabled test. Source artifacts under docs/evidence.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seconds. Ask carrier to evaluate complete recovery workflow with permissioned operational input. Physicalhardwarecurrentlyunavailable. No invented customer adoption, measuredsavings or revenue. Full testinginstructions in local submission handoff.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Optional2 minutes. PostgreSQL btree_gist exclusion onresourceperiods. Commands have stableidempotencykey+expectedversion; staleproposal yields conflictbeforemutation. Per-carrier exclusivecommands sharedtelemetrytriplocks; eventinsertionlock ensurescommitordercursor. Explain rollback boundaries and carrier membership.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Optional3 minutes. Simulator actualroadroute, constantspeed/dockwaitassumptions. Identicalstartingconditionshash; scenario clocks neveroverwriteoperationtime. Duplicate/outoforder retained withoutdoublecount; entireaccuracydisc determinesinside/outside; uncertainboundarynotarrival. Benchmark burstbarrier/warmdataqualifiers.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f0b8c91ef42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9951a1afe0458c" /><Relationship Type="http://schemas.openxmlformats.org/officeDocument/2006/relationships/slideLayout" Target="/ppt/slideLayouts/slideLayout1.xml" Id="Re3e0e84437174e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e0e84437174e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3799174944bba" /><Relationship Type="http://schemas.openxmlformats.org/officeDocument/2006/relationships/notesSlide" Target="/ppt/notesSlides/notesSlide1.xml" Id="R443d25be524343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02afbb3364e8f" /><Relationship Type="http://schemas.openxmlformats.org/officeDocument/2006/relationships/notesSlide" Target="/ppt/notesSlides/notesSlide2.xml" Id="R477d0087640245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484d2a2964369" /><Relationship Type="http://schemas.openxmlformats.org/officeDocument/2006/relationships/image" Target="/ppt/media/image.png" Id="Raa5ca3073c334048" /><Relationship Type="http://schemas.openxmlformats.org/officeDocument/2006/relationships/notesSlide" Target="/ppt/notesSlides/notesSlide3.xml" Id="R00f61e7e99414a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03905040943c6" /><Relationship Type="http://schemas.openxmlformats.org/officeDocument/2006/relationships/image" Target="/ppt/media/image2.png" Id="R14558542b49249b7" /><Relationship Type="http://schemas.openxmlformats.org/officeDocument/2006/relationships/notesSlide" Target="/ppt/notesSlides/notesSlide4.xml" Id="R2214fb8a969c49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1e59743354b94" /><Relationship Type="http://schemas.openxmlformats.org/officeDocument/2006/relationships/notesSlide" Target="/ppt/notesSlides/notesSlide5.xml" Id="Rbd4b559fb0444a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91d6cb16147d6" /><Relationship Type="http://schemas.openxmlformats.org/officeDocument/2006/relationships/image" Target="/ppt/media/image3.png" Id="Rea4c8e7cdb5f4566" /><Relationship Type="http://schemas.openxmlformats.org/officeDocument/2006/relationships/notesSlide" Target="/ppt/notesSlides/notesSlide6.xml" Id="R4bad82a342154c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a69fdb4e84545" /><Relationship Type="http://schemas.openxmlformats.org/officeDocument/2006/relationships/image" Target="/ppt/media/image4.png" Id="R49730e9c8e484510" /><Relationship Type="http://schemas.openxmlformats.org/officeDocument/2006/relationships/notesSlide" Target="/ppt/notesSlides/notesSlide7.xml" Id="Rf95b668b0ce84e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9424c0ad64a66" /><Relationship Type="http://schemas.openxmlformats.org/officeDocument/2006/relationships/notesSlide" Target="/ppt/notesSlides/notesSlide8.xml" Id="R4a1414f1fc794f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29085586649eb" /><Relationship Type="http://schemas.openxmlformats.org/officeDocument/2006/relationships/notesSlide" Target="/ppt/notesSlides/notesSlide9.xml" Id="R9dea311f3a954a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ef8192b7040c0" /><Relationship Type="http://schemas.openxmlformats.org/officeDocument/2006/relationships/notesSlide" Target="/ppt/notesSlides/notesSlide10.xml" Id="R8a061bcb6103444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e648cef4542c2" /><Relationship Type="http://schemas.openxmlformats.org/officeDocument/2006/relationships/notesSlide" Target="/ppt/notesSlides/notesSlide11.xml" Id="R8012ae94f78945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e60e12c944dd5" /><Relationship Type="http://schemas.openxmlformats.org/officeDocument/2006/relationships/notesSlide" Target="/ppt/notesSlides/notesSlide12.xml" Id="Ra4b8c72d186e40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4816001654352" /><Relationship Type="http://schemas.openxmlformats.org/officeDocument/2006/relationships/notesSlide" Target="/ppt/notesSlides/notesSlide13.xml" Id="Ra68e35a2d95941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20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0B948-9A20-4952-A34C-0079052C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RoadStar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D6010-49C4-44D8-A8E0-52D9852A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669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Rehearse a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6B881-C68B-46E1-AD30-E98F972A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24250"/>
            <a:ext cx="1009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CAD9E5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CAD9E5"/>
                </a:solidFill>
                <a:latin typeface="DejaVu Sans"/>
                <a:ea typeface="DejaVu Sans"/>
                <a:cs typeface="DejaVu Sans"/>
              </a:rPr>
              <a:t>Carrier dispatch, driver execution and detention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8DE81-46AD-4ABA-A6FA-C16DE638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FA83F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DFA83F"/>
                </a:solidFill>
                <a:latin typeface="DejaVu Sans"/>
                <a:ea typeface="DejaVu Sans"/>
                <a:cs typeface="DejaVu Sans"/>
              </a:rPr>
              <a:t>RoadStar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7841954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70C4C-61B8-4934-8D28-4130B5E4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A dock delay affects the next pickup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31CC1-1AC2-4B05-BB53-A2F65AEA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One truck is delayed at the dock.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109D4-A94F-4F75-90F9-446F1AA6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Its next assignment still needs a driver, truck and trailer.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5EE52-D765-4875-853F-8724B93F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The dispatcher needs a feasible alternative and a clear approval.</a:t>
            </a:r>
          </a:p>
        </p:txBody>
      </p:sp>
    </p:spTree>
    <p:extLst>
      <p:ext uri="{BB962C8B-B14F-4D97-AF65-F5344CB8AC3E}">
        <p14:creationId xmlns:p14="http://schemas.microsoft.com/office/powerpoint/2010/main" val="2336851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2922C-D21B-4F30-8F0D-74A256FF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Rehearse the recovery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5ca3073c334048"/>
          <a:stretch xmlns:a="http://schemas.openxmlformats.org/drawingml/2006/main"/>
        </p:blipFill>
        <p:spPr>
          <a:xfrm xmlns:a="http://schemas.openxmlformats.org/drawingml/2006/main">
            <a:off x="2438400" y="1524000"/>
            <a:ext cx="7315200" cy="4572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A5E655-B71C-465E-B7E7-B0F71183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9125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36B7E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36B7E"/>
                </a:solidFill>
                <a:latin typeface="DejaVu Sans"/>
                <a:ea typeface="DejaVu Sans"/>
                <a:cs typeface="DejaVu Sans"/>
              </a:rPr>
              <a:t>Synthetic scenario with actual Ontario truck routing</a:t>
            </a:r>
          </a:p>
        </p:txBody>
      </p:sp>
    </p:spTree>
    <p:extLst>
      <p:ext uri="{BB962C8B-B14F-4D97-AF65-F5344CB8AC3E}">
        <p14:creationId xmlns:p14="http://schemas.microsoft.com/office/powerpoint/2010/main" val="14464980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23165-F8F1-477E-B32A-032A0C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Approve against current evidence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58542b49249b7"/>
          <a:stretch xmlns:a="http://schemas.openxmlformats.org/drawingml/2006/main"/>
        </p:blipFill>
        <p:spPr>
          <a:xfrm xmlns:a="http://schemas.openxmlformats.org/drawingml/2006/main">
            <a:off x="6096000" y="1818217"/>
            <a:ext cx="5334000" cy="379306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CB8F98-3727-47C3-B1D7-55B97E06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Compare the replacement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2739A4-874F-4C44-8F4C-2FFD564A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622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Recheck current versions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FB80D8-5006-45CD-808B-8C5FC968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147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Reserve resources atomically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53C1C-3132-4D71-8F6A-9EB76FDF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Keep the approval record</a:t>
            </a:r>
          </a:p>
        </p:txBody>
      </p:sp>
    </p:spTree>
    <p:extLst>
      <p:ext uri="{BB962C8B-B14F-4D97-AF65-F5344CB8AC3E}">
        <p14:creationId xmlns:p14="http://schemas.microsoft.com/office/powerpoint/2010/main" val="12544322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A54092-79AD-4850-818A-F017E9B2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The driver keeps the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4842ED-9629-4FB2-B886-909428F1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Manifest and next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A198A-18BD-4E65-AE86-C42147E6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Visible pending acceptance while offline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00351-1832-4CFD-B0D9-2445E3F5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Session, trip and draft survive termination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A696-DD30-46A9-B7B1-96162329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338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Server acknowledgement confirms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E5035-21FF-4183-99ED-A333CA8C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rPr>
              <a:t>Verified on Android emulator. Physical phone and iOS testing deferred.</a:t>
            </a:r>
          </a:p>
        </p:txBody>
      </p:sp>
    </p:spTree>
    <p:extLst>
      <p:ext uri="{BB962C8B-B14F-4D97-AF65-F5344CB8AC3E}">
        <p14:creationId xmlns:p14="http://schemas.microsoft.com/office/powerpoint/2010/main" val="12393207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A28A7-B557-4E4F-BE63-BEB7BF26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Documents and detention stay connected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c8e7cdb5f4566"/>
          <a:stretch xmlns:a="http://schemas.openxmlformats.org/drawingml/2006/main"/>
        </p:blipFill>
        <p:spPr>
          <a:xfrm xmlns:a="http://schemas.openxmlformats.org/drawingml/2006/main">
            <a:off x="2514600" y="1524000"/>
            <a:ext cx="7162800" cy="447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CE22E-2536-483B-B084-5DBAE26D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43625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rPr>
              <a:t>Observed samples require review. Approved revision preserves the draft.</a:t>
            </a:r>
          </a:p>
        </p:txBody>
      </p:sp>
    </p:spTree>
    <p:extLst>
      <p:ext uri="{BB962C8B-B14F-4D97-AF65-F5344CB8AC3E}">
        <p14:creationId xmlns:p14="http://schemas.microsoft.com/office/powerpoint/2010/main" val="15871694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E77C6-0FCD-406E-854C-6CCBD341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One route, one ordered manifest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30e9c8e484510"/>
          <a:stretch xmlns:a="http://schemas.openxmlformats.org/drawingml/2006/main"/>
        </p:blipFill>
        <p:spPr>
          <a:xfrm xmlns:a="http://schemas.openxmlformats.org/drawingml/2006/main">
            <a:off x="5334000" y="1875234"/>
            <a:ext cx="6191250" cy="386953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0B2BEA-A76C-44F1-BD77-0763A5AA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Two LTL loads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822642-2E6D-49FB-A289-F3DDEF2D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47950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One vehicle pairing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F8325-52DD-4572-9F27-55DC2099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86150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Four ordered stops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7E40F-D15D-474D-8F83-40CE5132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24350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One approval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8357A-5ED1-4680-9287-EB699EC1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428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rPr>
              <a:t>Synthetic pallet capacity is explicit</a:t>
            </a:r>
          </a:p>
        </p:txBody>
      </p:sp>
    </p:spTree>
    <p:extLst>
      <p:ext uri="{BB962C8B-B14F-4D97-AF65-F5344CB8AC3E}">
        <p14:creationId xmlns:p14="http://schemas.microsoft.com/office/powerpoint/2010/main" val="2583188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D97FD-E312-4FB4-958D-E27E4D4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All five workbook sheets retain lineage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19125" y="1619250"/>
          <a:ext xmlns:a="http://schemas.openxmlformats.org/drawingml/2006/main" cx="581025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05125"/>
                <a:gridCol w="2905125"/>
              </a:tblGrid>
              <a:tr h="642938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Sheet</a:t>
                      </a:r>
                    </a:p>
                  </a:txBody>
                  <a:tcPr marL="91440" marR="91440" marT="45720" marB="45720">
                    <a:solidFill>
                      <a:srgbClr val="DFEA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Rows</a:t>
                      </a:r>
                    </a:p>
                  </a:txBody>
                  <a:tcPr marL="91440" marR="91440" marT="45720" marB="45720">
                    <a:solidFill>
                      <a:srgbClr val="DFEAF2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Tlorder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4,031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Dispatch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10,479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Driver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131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Trucks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131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Trailers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36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425</a:t>
                      </a:r>
                    </a:p>
                  </a:txBody>
                  <a:tcPr marL="91440" marR="91440" marT="45720" marB="45720">
                    <a:solidFill>
                      <a:srgbClr val="F6FAFD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FE6C3-4EB8-4C2B-AA91-C1C2BEDB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4429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15,197 source rows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AA485-7C54-4C07-BA31-091C91C8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95575"/>
            <a:ext cx="4429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82 exact dispatch duplicates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921E1-027F-4DF6-8A31-7BC670C4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29025"/>
            <a:ext cx="4429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Historical provenance preserved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D6252-209C-4CD9-B021-8351204B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62475"/>
            <a:ext cx="4429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Private data stays local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A65D8-2243-4284-B16C-2D7562A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5312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rPr>
              <a:t>Public preview uses labeled synthetic operational scenarios.</a:t>
            </a:r>
          </a:p>
        </p:txBody>
      </p:sp>
    </p:spTree>
    <p:extLst>
      <p:ext uri="{BB962C8B-B14F-4D97-AF65-F5344CB8AC3E}">
        <p14:creationId xmlns:p14="http://schemas.microsoft.com/office/powerpoint/2010/main" val="9794677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AAF543-2AA6-43CF-91E2-D1A38AC1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One operational database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49F89-448F-47C5-B3FB-DA62EA04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90675"/>
            <a:ext cx="107632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React web and Expo clients share validated commands.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97A6A0-A273-4C82-B1A0-F86DBA6F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57450"/>
            <a:ext cx="107632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Fastify checks Firebase identity and carrier membership.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089E2E-ED88-4154-8795-72EDFB16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24225"/>
            <a:ext cx="107632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PostgreSQL owns versions, reservations and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FDBF9-7BD8-4F49-AA01-CCFFB41F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91000"/>
            <a:ext cx="107632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OR-Tools, Valhalla and Gemini return proposals or extraction.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6D4AEA-06F3-4956-80AD-CCF30C61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57775"/>
            <a:ext cx="107632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Independent replay keeps its own scenario clock.</a:t>
            </a:r>
          </a:p>
        </p:txBody>
      </p:sp>
    </p:spTree>
    <p:extLst>
      <p:ext uri="{BB962C8B-B14F-4D97-AF65-F5344CB8AC3E}">
        <p14:creationId xmlns:p14="http://schemas.microsoft.com/office/powerpoint/2010/main" val="9281223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EAC7D-3766-4783-A88F-F991DCC2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Measured proof and remaining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63167-35BB-4304-ACD3-32E20452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47825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21 backend checks plus real-road manifest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81C37-8289-4FE8-AA67-7C636E9B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131-driver cloud burst completed with no failed commands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92E33-5FEE-47BD-BEFE-4DA1A00E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Synchronization lag p95: 5.4 seconds in that burst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99DD9-888C-4AB1-A9A0-16DB5695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76775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Physical background location and native iOS still need testing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85704-B0DB-4365-B11A-128E4EFD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0075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36B7E"/>
                </a:solidFill>
                <a:latin typeface="DejaVu Sans"/>
                <a:ea typeface="DejaVu Sans"/>
                <a:cs typeface="DejaVu Sans"/>
              </a:rPr>
              <a:t>Declared duty budgets are not a certified ELD.</a:t>
            </a:r>
          </a:p>
        </p:txBody>
      </p:sp>
    </p:spTree>
    <p:extLst>
      <p:ext uri="{BB962C8B-B14F-4D97-AF65-F5344CB8AC3E}">
        <p14:creationId xmlns:p14="http://schemas.microsoft.com/office/powerpoint/2010/main" val="14497834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CFCEE8-6CCC-4F99-81DF-43FB999D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Next carrier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E8EF9-D4E8-48BE-9426-EAFB1163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Validate Android and iPhone on physical devices.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C3F4A-06CC-4594-B791-6939725B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Review capacities, duty inputs and facility instructions.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5DAA0-95B7-4E17-B9FB-90E35105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91000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Measure dispatcher decisions and driver completion in a pilot.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C4BFA-1961-4806-82CE-E066EC3B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36B7E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36B7E"/>
                </a:solidFill>
                <a:latin typeface="DejaVu Sans"/>
                <a:ea typeface="DejaVu Sans"/>
                <a:cs typeface="DejaVu Sans"/>
              </a:rPr>
              <a:t>Preview: roadstar-web-739889188415.us-central1.run.app</a:t>
            </a:r>
          </a:p>
        </p:txBody>
      </p:sp>
    </p:spTree>
    <p:extLst>
      <p:ext uri="{BB962C8B-B14F-4D97-AF65-F5344CB8AC3E}">
        <p14:creationId xmlns:p14="http://schemas.microsoft.com/office/powerpoint/2010/main" val="19532657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ACED4-8C43-4EC7-A5B2-097C4971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Appendix: concurrent approval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0306E-1125-4830-8A16-A82D98CC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A command identifies its intent and expected version.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53FC9-1721-4DA6-82C6-2B72F81B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955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Approval rechecks availability inside the transaction.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2F9F9-D5F1-48CE-8A12-B2CD6704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718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Exclusion constraints reject incompatible resource periods.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8F899-C60A-477B-BAAB-2F56E0C9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481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Commit-ordered events prevent missed cursor updates.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A4652-8684-4F8A-8F6B-0C75217B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244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A repeated key returns its original result.</a:t>
            </a:r>
          </a:p>
        </p:txBody>
      </p:sp>
    </p:spTree>
    <p:extLst>
      <p:ext uri="{BB962C8B-B14F-4D97-AF65-F5344CB8AC3E}">
        <p14:creationId xmlns:p14="http://schemas.microsoft.com/office/powerpoint/2010/main" val="17488951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0A159-30A4-42AD-98AD-5184AA97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Appendix: replay and telemetry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4F308B-52C6-4660-B1AE-FD9502F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Replay starts from the same recorded scenario conditions.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CEF6F-37C0-4D34-94D3-89F6EDD4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955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Dock wait and road assumptions are disclosed.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4F18A-3339-4CCF-A280-B52C15B3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718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Duplicate and out-of-order GPS cannot double-count a visit.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82113A-C185-4884-B48F-6EEFD839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481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Uncertain boundaries stay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2FAC7-51B4-4A68-B811-C5ACD058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24450"/>
            <a:ext cx="1076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9364A"/>
                </a:solidFill>
                <a:latin typeface="DejaVu Sans"/>
                <a:ea typeface="DejaVu Sans"/>
                <a:cs typeface="DejaVu Sans"/>
              </a:rPr>
              <a:t>Compare operational outcomes separately from modeled savings.</a:t>
            </a:r>
          </a:p>
        </p:txBody>
      </p:sp>
    </p:spTree>
    <p:extLst>
      <p:ext uri="{BB962C8B-B14F-4D97-AF65-F5344CB8AC3E}">
        <p14:creationId xmlns:p14="http://schemas.microsoft.com/office/powerpoint/2010/main" val="10334008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2026-09-10T21:21:31.6040000Z</dcterms:created>
  <dcterms:modified xsi:type="dcterms:W3CDTF">2026-09-10T21:21:31.6050000Z</dcterms:modified>
</coreProperties>
</file>