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a776b204d74bcd" /><Relationship Type="http://schemas.openxmlformats.org/officeDocument/2006/relationships/extended-properties" Target="/docProps/app.xml" Id="Rceb8849f7c1246f6" /><Relationship Type="http://schemas.openxmlformats.org/officeDocument/2006/relationships/officeDocument" Target="/ppt/presentation.xml" Id="Rc0544d2884204e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2f1ed6a72e44b3"/>
  </p:sldMasterIdLst>
  <p:notesMasterIdLst>
    <p:notesMasterId xmlns:r="http://schemas.openxmlformats.org/officeDocument/2006/relationships" r:id="Rc7482c2920254ddf"/>
  </p:notesMasterIdLst>
  <p:sldIdLst>
    <p:sldId xmlns:r="http://schemas.openxmlformats.org/officeDocument/2006/relationships" id="256" r:id="R3b5ed648c22d45ea"/>
    <p:sldId xmlns:r="http://schemas.openxmlformats.org/officeDocument/2006/relationships" id="257" r:id="R746fc19ff7bb46cd"/>
    <p:sldId xmlns:r="http://schemas.openxmlformats.org/officeDocument/2006/relationships" id="258" r:id="Rb2a5f2700eaf4283"/>
    <p:sldId xmlns:r="http://schemas.openxmlformats.org/officeDocument/2006/relationships" id="259" r:id="R1c16a22f5ad84759"/>
    <p:sldId xmlns:r="http://schemas.openxmlformats.org/officeDocument/2006/relationships" id="260" r:id="R93316e75399748e2"/>
    <p:sldId xmlns:r="http://schemas.openxmlformats.org/officeDocument/2006/relationships" id="261" r:id="R565791d54bbd4c8b"/>
    <p:sldId xmlns:r="http://schemas.openxmlformats.org/officeDocument/2006/relationships" id="262" r:id="Rcff440f29abb46df"/>
    <p:sldId xmlns:r="http://schemas.openxmlformats.org/officeDocument/2006/relationships" id="263" r:id="R5d808362d649444e"/>
    <p:sldId xmlns:r="http://schemas.openxmlformats.org/officeDocument/2006/relationships" id="264" r:id="R2610e90ea11c40c8"/>
    <p:sldId xmlns:r="http://schemas.openxmlformats.org/officeDocument/2006/relationships" id="265" r:id="Rded900b42ad94c79"/>
    <p:sldId xmlns:r="http://schemas.openxmlformats.org/officeDocument/2006/relationships" id="266" r:id="R6344624bddcf4e17"/>
    <p:sldId xmlns:r="http://schemas.openxmlformats.org/officeDocument/2006/relationships" id="267" r:id="Rc7644c7e829a47fc"/>
    <p:sldId xmlns:r="http://schemas.openxmlformats.org/officeDocument/2006/relationships" id="268" r:id="R1f43b7ef0a6647d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05e5aa435d94516" /><Relationship Type="http://schemas.openxmlformats.org/officeDocument/2006/relationships/slideMaster" Target="/ppt/slideMasters/slideMaster1.xml" Id="R702f1ed6a72e44b3" /><Relationship Type="http://schemas.openxmlformats.org/officeDocument/2006/relationships/notesMaster" Target="/ppt/notesMasters/notesMaster1.xml" Id="Rc7482c2920254ddf" /><Relationship Type="http://schemas.openxmlformats.org/officeDocument/2006/relationships/presProps" Target="/ppt/presProps.xml" Id="Rc25f243fe8894d7c" /><Relationship Type="http://schemas.openxmlformats.org/officeDocument/2006/relationships/tableStyles" Target="/ppt/tableStyles.xml" Id="Raa21ff222d7b456c" /><Relationship Type="http://schemas.openxmlformats.org/officeDocument/2006/relationships/slide" Target="/ppt/slides/slide1.xml" Id="R3b5ed648c22d45ea" /><Relationship Type="http://schemas.openxmlformats.org/officeDocument/2006/relationships/slide" Target="/ppt/slides/slide2.xml" Id="R746fc19ff7bb46cd" /><Relationship Type="http://schemas.openxmlformats.org/officeDocument/2006/relationships/slide" Target="/ppt/slides/slide3.xml" Id="Rb2a5f2700eaf4283" /><Relationship Type="http://schemas.openxmlformats.org/officeDocument/2006/relationships/slide" Target="/ppt/slides/slide4.xml" Id="R1c16a22f5ad84759" /><Relationship Type="http://schemas.openxmlformats.org/officeDocument/2006/relationships/slide" Target="/ppt/slides/slide5.xml" Id="R93316e75399748e2" /><Relationship Type="http://schemas.openxmlformats.org/officeDocument/2006/relationships/slide" Target="/ppt/slides/slide6.xml" Id="R565791d54bbd4c8b" /><Relationship Type="http://schemas.openxmlformats.org/officeDocument/2006/relationships/slide" Target="/ppt/slides/slide7.xml" Id="Rcff440f29abb46df" /><Relationship Type="http://schemas.openxmlformats.org/officeDocument/2006/relationships/slide" Target="/ppt/slides/slide8.xml" Id="R5d808362d649444e" /><Relationship Type="http://schemas.openxmlformats.org/officeDocument/2006/relationships/slide" Target="/ppt/slides/slide9.xml" Id="R2610e90ea11c40c8" /><Relationship Type="http://schemas.openxmlformats.org/officeDocument/2006/relationships/slide" Target="/ppt/slides/slide10.xml" Id="Rded900b42ad94c79" /><Relationship Type="http://schemas.openxmlformats.org/officeDocument/2006/relationships/slide" Target="/ppt/slides/slide11.xml" Id="R6344624bddcf4e17" /><Relationship Type="http://schemas.openxmlformats.org/officeDocument/2006/relationships/slide" Target="/ppt/slides/slide12.xml" Id="Rc7644c7e829a47fc" /><Relationship Type="http://schemas.openxmlformats.org/officeDocument/2006/relationships/slide" Target="/ppt/slides/slide13.xml" Id="R1f43b7ef0a6647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215319479f649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1bbcaec0004c0e" /><Relationship Type="http://schemas.openxmlformats.org/officeDocument/2006/relationships/notesMaster" Target="/ppt/notesMasters/notesMaster1.xml" Id="R6263b5f358254a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729166003a47ca" /><Relationship Type="http://schemas.openxmlformats.org/officeDocument/2006/relationships/notesMaster" Target="/ppt/notesMasters/notesMaster1.xml" Id="R3400617f3ea446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58a079923e445c" /><Relationship Type="http://schemas.openxmlformats.org/officeDocument/2006/relationships/notesMaster" Target="/ppt/notesMasters/notesMaster1.xml" Id="Rff2fca0d42fe42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63f4fa84994a14" /><Relationship Type="http://schemas.openxmlformats.org/officeDocument/2006/relationships/notesMaster" Target="/ppt/notesMasters/notesMaster1.xml" Id="Rdbf5acf8ad5b474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a6b6278f5049e5" /><Relationship Type="http://schemas.openxmlformats.org/officeDocument/2006/relationships/notesMaster" Target="/ppt/notesMasters/notesMaster1.xml" Id="R611603a001964f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6fc0d2c6cf43c3" /><Relationship Type="http://schemas.openxmlformats.org/officeDocument/2006/relationships/notesMaster" Target="/ppt/notesMasters/notesMaster1.xml" Id="Rcff1504129fa44e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8759dba211444a" /><Relationship Type="http://schemas.openxmlformats.org/officeDocument/2006/relationships/notesMaster" Target="/ppt/notesMasters/notesMaster1.xml" Id="R197e6ee12ab64dc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925fbe2d79482c" /><Relationship Type="http://schemas.openxmlformats.org/officeDocument/2006/relationships/notesMaster" Target="/ppt/notesMasters/notesMaster1.xml" Id="Rcd9a54164d814a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6911f0b480f4881" /><Relationship Type="http://schemas.openxmlformats.org/officeDocument/2006/relationships/notesMaster" Target="/ppt/notesMasters/notesMaster1.xml" Id="Rbff7542cb63f439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ee36b8a3fa343e8" /><Relationship Type="http://schemas.openxmlformats.org/officeDocument/2006/relationships/notesMaster" Target="/ppt/notesMasters/notesMaster1.xml" Id="Rb7a2c65455bf4ce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5ddcaf5b1b745ff" /><Relationship Type="http://schemas.openxmlformats.org/officeDocument/2006/relationships/notesMaster" Target="/ppt/notesMasters/notesMaster1.xml" Id="Rc8449bab9dcc44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d5a8662defd41eb" /><Relationship Type="http://schemas.openxmlformats.org/officeDocument/2006/relationships/notesMaster" Target="/ppt/notesMasters/notesMaster1.xml" Id="R5e3872e05f7447c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6122b68c5dc47af" /><Relationship Type="http://schemas.openxmlformats.org/officeDocument/2006/relationships/notesMaster" Target="/ppt/notesMasters/notesMaster1.xml" Id="R8b054aea332040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35 seconds. Introduce carrier dispatch recovery. Demonstration records are synthetic. Show actual app immediately after this opening. No customer records are published.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seconds. Explain a dispatcher coordinating resource commitments. This is a scenario, not an estimate of industry-wide cost or frequency.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80 seconds. Switch to live cloud film-demo or downloaded recording. Record expected departure and inspect the affected next load. Sources: actual RoadStar cloud browser capture, docs/evidence/cloud-auth-smoke.json. Visual: September 10 design-film cloud recording, 01-dock-delay-end.png, exact disruption strip. 12:00 planned departure, 13:30 expected departure, 12:15 next pickup, ET. Final frozen web source: capture-final/delay-impact.png, expanded real delay record in design-final synthetic carrier, September 10 2026. Final v9 source: /tmp/roadstar-polish/final-capture/delay-impact.png, deployment 00017-bj6, design-polish-final carrier. Actual recorded delay; same 12:00 / 13:30 / 12:15 ET scenario. Third-pass image: actual expanded delay-impact capture from frozen cloud 00020-8l2, cropped to the delay evidence strip; synthetic rehearsal.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65 seconds. Show current assignment and proposed D02/T102/V102. Approval rechecks versions and availability, then commits reservations and driver offer atomically. Source: tests/postgres.test.ts and actual cloud recovery verification. Visual: exact modal frame at 16 seconds from the new design-film 02-recovery-approval recording. Actual proposal and approval API responses succeeded. Final frozen web source: capture-final/approval-review.png, exact displayed consequential approval dialog in design-final carrier. The capture precedes the explicit confirmation. Final v9 capture: /tmp/roadstar-polish/capture/approval-review.png. Current and proposed drivers and equipment are shown before confirmation. Driver acceptance is separate. Checks and assumptions remain available in the disclosure. Final v9 source supersedes previous frame: /tmp/roadstar-polish/final-capture/approval-review.png, deployment 00017-bj6. Same explicit current-to-proposed dialog before confirmation. Third-pass image: actual approval-review capture from frozen cloud 00020-8l2, cropped to the dialog. Driver acceptance remains a separate command.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65 seconds. Native API35 Android emulator testing: Firebase login, offline acceptance, force-stop, restored session/downloaded trip/note/pending key, reconnect to accepted version2. Physical device background location and native iOS remain unverified. Current visual: actual September 10 Android API35 emulator Today screen. RS1043 accepted, pickup already completed, delivery is next. The screenshot does not claim a newly completed delivery or a new offline acceptance test. Density refresh: final native screenshot mobile/34-today-frozen.png, consistent RoadStar case and compact header. State remains accepted with delivery next. Final source freeze uses mobile/41-today-final.png. Compact one-row identity header and explicit synthetic scenario label. Original facility values remain unchanged underneath their shortened display labels. Final review-pass capture: mobile/56-today-frozen-review-pass.png. Same accepted trip state, pickup completed and delivery next; this capture is not new offline-acceptance verification. Final v9 capture supersedes the prior frame: mobile/60-today-density-final.png. Compact single-row header; accepted trip and delivery-next state unchanged.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 seconds. Show original synthetic PDF and reviewed fields. Source hash/model output retained. Same-stop arrival/departure samples and configured terms produce draft. Human approval retains draft and creates new revision; no payment. Source: docs/evidence/cloud-document-extraction.json and actual cloud billing capture. Visual: retained actual synthetic cloud billing panel, cropped to the stop record and draft/approved revisions without changing content. Density refresh source: cloud-current/web-billing-panel.png. Same approved revision and original draft, original amounts and observed precision preserved.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55 seconds. Real OR-Tools with Valhalla truck matrix produced two LTL pickups and two deliveries. Cloud planning-demo approved, accepted and completed global order. Three vehicle-resource reservations stay active until every load completes. Synthetic26-pallet allowance disclosed. Source: docs/evidence/cloud-planning-verification.json and tests/group-road.test.ts. Visual: retained actual planning-demo completed two-load, four-stop manifest in the redesigned UI. Density refresh source: cloud-current/web-completed-manifest.png. Same actual completed two-load/four-stop fixture.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50 seconds. Imported15197 rows locally only.82 exact duplicates in Dispatch. Source originals, missing fields and historical dates retained. No customer rows shown or uploaded. Source: docs/evidence/workbook-import.json.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50 seconds. Cloud Run Fastify owns state changes. Dedicated PG16/PostGIS owns truth; ORTools/Valhalla compute; Vertex extracts; independent simulator posts synthetic events. API accepts no AI approval. See infra/gcp/README.md and services/api/src/store.ts. Third-pass architecture clarifies that OR-Tools/Valhalla proposals and Gemini document extraction are supporting capabilities used by the API. The lower section expresses those capabilities without depicting a new transaction flow.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55 seconds. Do not claim complete legal HOS, guaranteed2s latency, realdevice/iOS or productioncapacity. Cloud benchmark524 telemetry+524syncpairs, no failures, ownacktosnapshotp955448ms. Real-road group integration separate enabled test. Source artifacts under docs/evidence.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seconds. Ask carrier to evaluate complete recovery workflow with permissioned operational input. Physicalhardwarecurrentlyunavailable. No invented customer adoption, measuredsavings or revenue. Full testinginstructions in local submission handoff.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120 seconds. Optional2 minutes. PostgreSQL btree_gist exclusion onresourceperiods. Commands have stableidempotencykey+expectedversion; staleproposal yields conflictbeforemutation. Per-carrier exclusivecommands sharedtelemetrytriplocks; eventinsertionlock ensurescommitordercursor. Explain rollback boundaries and carrier membership.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180 seconds. Optional3 minutes. Simulator actualroadroute, constantspeed/dockwaitassumptions. Identicalstartingconditionshash; scenario clocks neveroverwriteoperationtime. Duplicate/outoforder retained withoutdoublecount; entireaccuracydisc determinesinside/outside; uncertainboundarynotarrival. Benchmark burstbarrier/warmdataqualifiers.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source: actual RoadStar application captures where shown. Generated road sculpture is illustrative brand artwork, not geographic or route evidence. Design system: docs/design/precision-transport.md. Current check counts: 22 backend, 23 native mobile. Core slides 1–11 total 10 minutes. Appendix slides 12–13 total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63bab58e054d6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41765f86944304" /><Relationship Type="http://schemas.openxmlformats.org/officeDocument/2006/relationships/slideLayout" Target="/ppt/slideLayouts/slideLayout1.xml" Id="R2a1b26e2931f4a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a1b26e2931f4a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d5f56339f4adb" /><Relationship Type="http://schemas.openxmlformats.org/officeDocument/2006/relationships/image" Target="/ppt/media/image.png" Id="R34290a2ec56f4f7a" /><Relationship Type="http://schemas.openxmlformats.org/officeDocument/2006/relationships/image" Target="/ppt/media/image2.png" Id="R6bb310e4a35b4702" /><Relationship Type="http://schemas.openxmlformats.org/officeDocument/2006/relationships/image" Target="/ppt/media/image.svg" Id="Rc9144068576f4462" /><Relationship Type="http://schemas.openxmlformats.org/officeDocument/2006/relationships/notesSlide" Target="/ppt/notesSlides/notesSlide1.xml" Id="R263881cb08d544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e951e7b914862" /><Relationship Type="http://schemas.openxmlformats.org/officeDocument/2006/relationships/notesSlide" Target="/ppt/notesSlides/notesSlide2.xml" Id="Rc758382502df43e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673957441e4f72" /><Relationship Type="http://schemas.openxmlformats.org/officeDocument/2006/relationships/image" Target="/ppt/media/image3.png" Id="R98acb477ba7448fd" /><Relationship Type="http://schemas.openxmlformats.org/officeDocument/2006/relationships/notesSlide" Target="/ppt/notesSlides/notesSlide3.xml" Id="R17a67dbf047f43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f118d287834fa9" /><Relationship Type="http://schemas.openxmlformats.org/officeDocument/2006/relationships/image" Target="/ppt/media/image4.png" Id="R76181354c22c45f0" /><Relationship Type="http://schemas.openxmlformats.org/officeDocument/2006/relationships/notesSlide" Target="/ppt/notesSlides/notesSlide4.xml" Id="R08b2608c848a45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ccba48490a4b62" /><Relationship Type="http://schemas.openxmlformats.org/officeDocument/2006/relationships/image" Target="/ppt/media/image5.png" Id="R052746b4bb0b4587" /><Relationship Type="http://schemas.openxmlformats.org/officeDocument/2006/relationships/notesSlide" Target="/ppt/notesSlides/notesSlide5.xml" Id="R4dfb44cbad5549c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fbbca6725e49b8" /><Relationship Type="http://schemas.openxmlformats.org/officeDocument/2006/relationships/image" Target="/ppt/media/image6.png" Id="R52ea27de90794d63" /><Relationship Type="http://schemas.openxmlformats.org/officeDocument/2006/relationships/notesSlide" Target="/ppt/notesSlides/notesSlide6.xml" Id="Raa71b55a85f248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99ce369bd74c61" /><Relationship Type="http://schemas.openxmlformats.org/officeDocument/2006/relationships/image" Target="/ppt/media/image7.png" Id="R4fc777bc1a3b4e15" /><Relationship Type="http://schemas.openxmlformats.org/officeDocument/2006/relationships/notesSlide" Target="/ppt/notesSlides/notesSlide7.xml" Id="R0cb99cb0407d4a5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c11c78804641f5" /><Relationship Type="http://schemas.openxmlformats.org/officeDocument/2006/relationships/notesSlide" Target="/ppt/notesSlides/notesSlide8.xml" Id="Rb06b7519b6624de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e2145bc3f4f97" /><Relationship Type="http://schemas.openxmlformats.org/officeDocument/2006/relationships/notesSlide" Target="/ppt/notesSlides/notesSlide9.xml" Id="R1a6934fd16cb49e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99a10f56754998" /><Relationship Type="http://schemas.openxmlformats.org/officeDocument/2006/relationships/notesSlide" Target="/ppt/notesSlides/notesSlide10.xml" Id="Rfc3edb3d3a1e476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821feee604e30" /><Relationship Type="http://schemas.openxmlformats.org/officeDocument/2006/relationships/image" Target="/ppt/media/image8.png" Id="R8cfa346cc0744942" /><Relationship Type="http://schemas.openxmlformats.org/officeDocument/2006/relationships/notesSlide" Target="/ppt/notesSlides/notesSlide11.xml" Id="Rbecb893f11b54ca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bdf6b9886141a7" /><Relationship Type="http://schemas.openxmlformats.org/officeDocument/2006/relationships/notesSlide" Target="/ppt/notesSlides/notesSlide12.xml" Id="R73199551e16248c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10e593145948cf" /><Relationship Type="http://schemas.openxmlformats.org/officeDocument/2006/relationships/notesSlide" Target="/ppt/notesSlides/notesSlide13.xml" Id="R15d4dc71f95b4c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023536-F73A-4B7C-93BD-781348C9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290a2ec56f4f7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b310e4a35b4702">
            <a:extLst>
              <a:ext uri="{96DAC541-7B7A-43D3-8B79-37D633B846F1}">
                <asvg:svgBlip xmlns:asvg="http://schemas.microsoft.com/office/drawing/2016/SVG/main" r:embed="Rc9144068576f446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38175" y="933450"/>
            <a:ext cx="542925" cy="6096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04BE6-D931-4B97-9E5D-AF93FD9A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714375"/>
            <a:ext cx="57150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8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68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RoadStar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7D51E9-9BFB-4FE1-856B-5D74F366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8120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150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Dispatch recovery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F2D0C0-C759-4C87-B7C7-25EC9954D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4524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Carrier decisions. Driver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C515F-1F03-46E1-A049-F3C73A7E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500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RoadStar Hackathon 2026</a:t>
            </a:r>
          </a:p>
        </p:txBody>
      </p:sp>
    </p:spTree>
    <p:extLst>
      <p:ext uri="{BB962C8B-B14F-4D97-AF65-F5344CB8AC3E}">
        <p14:creationId xmlns:p14="http://schemas.microsoft.com/office/powerpoint/2010/main" val="15212651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D61344-CD4D-4D90-B4FE-B749943C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51A4B5-457C-4A6D-9D84-96E8E5B0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76300"/>
            <a:ext cx="6000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A dock delay</a:t>
            </a:r>
          </a:p>
          <a:p xmlns:a="http://schemas.openxmlformats.org/drawingml/2006/main">
            <a:pPr>
              <a:defRPr sz="5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reaches the</a:t>
            </a:r>
          </a:p>
          <a:p xmlns:a="http://schemas.openxmlformats.org/drawingml/2006/main">
            <a:pPr>
              <a:defRPr sz="5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next pickup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242DBD-E0D4-40D2-9D33-716D35159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43450"/>
            <a:ext cx="5524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dispatcher must reconnect the next assignment with available resources.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059BDE-43D0-414D-A6C7-1D1C7157A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5049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27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Dock delay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D7E8D6-C947-4E9E-A36F-6B6FC669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575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7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Next pickup</a:t>
            </a:r>
          </a:p>
        </p:txBody>
      </p:sp>
      <p:cxnSp>
        <p:nvCxnSpPr>
          <p:cNvPr id="15" name=""/>
          <p:cNvCxnSpPr>
            <a:stCxn xmlns:a="http://schemas.openxmlformats.org/drawingml/2006/main" id="4" idx="1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696200" y="1838325"/>
            <a:ext cx="0" cy="155257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E65C32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86ACF-CB7E-44BA-A738-C9800C3EE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3050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5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Current truck is still committed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5E0B6E-6F03-4DA7-B5D9-577A1B31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905250"/>
            <a:ext cx="29527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Driver</a:t>
            </a:r>
          </a:p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Truck</a:t>
            </a:r>
          </a:p>
          <a:p xmlns:a="http://schemas.openxmlformats.org/drawingml/2006/main">
            <a:pPr>
              <a:defRPr sz="21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Trailer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F09C6A-A8D9-408E-AA4F-27FDE5D3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924550"/>
            <a:ext cx="3524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Illustrative dispatch scenario</a:t>
            </a:r>
          </a:p>
        </p:txBody>
      </p:sp>
    </p:spTree>
    <p:extLst>
      <p:ext uri="{BB962C8B-B14F-4D97-AF65-F5344CB8AC3E}">
        <p14:creationId xmlns:p14="http://schemas.microsoft.com/office/powerpoint/2010/main" val="5055265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DCD849-BEF6-4E43-A058-818828C8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30EDF0-BB01-4E86-8577-D15A19B1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Recovery rehearsal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3F5FB-7191-4B66-8954-518301D9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4777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delayed departure makes the next assignment visible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acb477ba7448fd"/>
          <a:stretch xmlns:a="http://schemas.openxmlformats.org/drawingml/2006/main"/>
        </p:blipFill>
        <p:spPr>
          <a:xfrm xmlns:a="http://schemas.openxmlformats.org/drawingml/2006/main">
            <a:off x="676275" y="2000250"/>
            <a:ext cx="10839450" cy="1676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C2F9F9-AD2F-49C8-AA29-207FA0FB5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76700"/>
            <a:ext cx="34385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12:00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C278E9-39F7-4906-8D93-7255B13BE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038725"/>
            <a:ext cx="3295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Planned departure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5EDF2E-26EE-4AF7-9F80-7AFDDA1A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076700"/>
            <a:ext cx="34385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5100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13:30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8E2DD-68FF-4268-BD14-18858533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5038725"/>
            <a:ext cx="3371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Expected departure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1456E8-C70A-4C47-8B05-2392C440F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76700"/>
            <a:ext cx="31527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51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12:15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DD5FD5-567B-4BAB-8133-DA26797A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038725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Next pickup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ED84FF-04FD-4F44-BA91-8C2A28D4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00775"/>
            <a:ext cx="1038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Synthetic scenario. Times in ET. Actual Ontario truck routing supports the recovery.</a:t>
            </a:r>
          </a:p>
        </p:txBody>
      </p:sp>
    </p:spTree>
    <p:extLst>
      <p:ext uri="{BB962C8B-B14F-4D97-AF65-F5344CB8AC3E}">
        <p14:creationId xmlns:p14="http://schemas.microsoft.com/office/powerpoint/2010/main" val="21214078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56142A-F2E5-406E-AD4E-6799D22B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4095B5-E227-4228-9591-7DEA019D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6750"/>
            <a:ext cx="5334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1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1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Approval</a:t>
            </a:r>
          </a:p>
          <a:p xmlns:a="http://schemas.openxmlformats.org/drawingml/2006/main">
            <a:pPr>
              <a:defRPr sz="41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1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against current</a:t>
            </a:r>
          </a:p>
          <a:p xmlns:a="http://schemas.openxmlformats.org/drawingml/2006/main">
            <a:pPr>
              <a:defRPr sz="41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1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4D1D00-9CC5-419D-B6EF-1A9C7F31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766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The server rechecks the proposal at the moment of approval.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B77BDC-5D0E-4998-8BB9-5076697F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9720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Versions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81B0B6-9E03-40DD-8FD6-1E70FDDB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102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Availability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843B49-41F9-452D-9C67-11F5E180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8483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Atomic reservations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181354c22c45f0"/>
          <a:stretch xmlns:a="http://schemas.openxmlformats.org/drawingml/2006/main"/>
        </p:blipFill>
        <p:spPr>
          <a:xfrm xmlns:a="http://schemas.openxmlformats.org/drawingml/2006/main">
            <a:off x="5600700" y="1028700"/>
            <a:ext cx="5905500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6760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C2E7EE-0D4E-4E90-B6AB-AF61EE6B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E94037-ECE6-4D5C-8BDA-EFA5DE83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85800"/>
            <a:ext cx="6667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72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472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The driver</a:t>
            </a:r>
          </a:p>
          <a:p xmlns:a="http://schemas.openxmlformats.org/drawingml/2006/main">
            <a:pPr>
              <a:defRPr sz="472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472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keeps the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5D4045-D9DB-4C6E-A3EB-11520BD3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533650"/>
            <a:ext cx="533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Acceptance stays visible through an offline interruption.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BE8614-D01E-46C2-AF7C-3839F513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8671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479328-DDB8-43B5-93BC-26A6CD76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3867150"/>
            <a:ext cx="4619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Pending while offline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2EDDC6-028E-4457-A9F4-8A415F9D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910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E8391A-0853-4D51-A30C-DBC6C162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591050"/>
            <a:ext cx="5191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Trip and draft survive termination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70EBDE-0355-473C-BC7B-7375BBA6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3149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F2F034-26F6-48AF-A9DA-FBDA9360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5314950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Server confirms the command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746b4bb0b4587"/>
          <a:stretch xmlns:a="http://schemas.openxmlformats.org/drawingml/2006/main"/>
        </p:blipFill>
        <p:spPr>
          <a:xfrm xmlns:a="http://schemas.openxmlformats.org/drawingml/2006/main">
            <a:off x="7946708" y="266700"/>
            <a:ext cx="2794635" cy="62103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3C5D53-081A-48E2-A7F1-4F647D24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7697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Android emulator verified. Physical phone and native iOS remain unverified.</a:t>
            </a:r>
          </a:p>
        </p:txBody>
      </p:sp>
    </p:spTree>
    <p:extLst>
      <p:ext uri="{BB962C8B-B14F-4D97-AF65-F5344CB8AC3E}">
        <p14:creationId xmlns:p14="http://schemas.microsoft.com/office/powerpoint/2010/main" val="9669879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03FEB2-3BD9-4DFA-87D5-098ABB5D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0A915-6680-4083-B9E1-F1F531B47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Documents and detention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E26450-EC28-499A-84DF-F88C2763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2763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reviewed revision keeps the original draft in view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ea27de90794d63"/>
          <a:stretch xmlns:a="http://schemas.openxmlformats.org/drawingml/2006/main"/>
        </p:blipFill>
        <p:spPr>
          <a:xfrm xmlns:a="http://schemas.openxmlformats.org/drawingml/2006/main">
            <a:off x="836768" y="2085975"/>
            <a:ext cx="10518464" cy="40576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7D9017-0D84-4A4C-8AA6-7281E7277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19825"/>
            <a:ext cx="10382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Observed samples require review. Billing approval does not initiate payment.</a:t>
            </a:r>
          </a:p>
        </p:txBody>
      </p:sp>
    </p:spTree>
    <p:extLst>
      <p:ext uri="{BB962C8B-B14F-4D97-AF65-F5344CB8AC3E}">
        <p14:creationId xmlns:p14="http://schemas.microsoft.com/office/powerpoint/2010/main" val="12074779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DA3EA4-FFFD-4440-A8D7-96765A23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E37F60-B6C0-41D3-9802-2A96E772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5619750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60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660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2 loads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A4D40A-64D4-44DD-8312-887D06E1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5715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15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4 ordered stops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CD796F-BF2A-44A0-9FFA-50058600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447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One vehicle pairing</a:t>
            </a:r>
          </a:p>
          <a:p xmlns:a="http://schemas.openxmlformats.org/drawingml/2006/main">
            <a:pPr>
              <a:defRPr sz="22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One approval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c777bc1a3b4e15"/>
          <a:stretch xmlns:a="http://schemas.openxmlformats.org/drawingml/2006/main"/>
        </p:blipFill>
        <p:spPr>
          <a:xfrm xmlns:a="http://schemas.openxmlformats.org/drawingml/2006/main">
            <a:off x="6000750" y="920413"/>
            <a:ext cx="5667375" cy="498859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508CDB-0959-40BB-A204-69305DD0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67325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Reservations stay active until every load completes.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847131-49D5-437F-AF2D-452F6BA6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57925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Synthetic pallet capacity disclosed</a:t>
            </a:r>
          </a:p>
        </p:txBody>
      </p:sp>
    </p:spTree>
    <p:extLst>
      <p:ext uri="{BB962C8B-B14F-4D97-AF65-F5344CB8AC3E}">
        <p14:creationId xmlns:p14="http://schemas.microsoft.com/office/powerpoint/2010/main" val="20733271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E0EBC9-22B0-4B45-9C49-A56AE3B4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5D05D7-B8D6-486F-AFD0-952CE69E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All five sheets retain lineage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8DE094-7CA3-4E46-B861-2BD297DA7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05000"/>
            <a:ext cx="5429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02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802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15,197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D016D9-4C22-446A-93C7-7A8AF6BE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19475"/>
            <a:ext cx="457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24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source rows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C6A2B0-76F0-4090-965D-C57C86AB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19600"/>
            <a:ext cx="6000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18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82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001903-C4E1-4B1E-8A49-8B81CC56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19600"/>
            <a:ext cx="4743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exact Dispatch duplicates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1ECC2F-0AB8-4E5B-9095-EC396785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886325"/>
            <a:ext cx="5191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Historical provenance preserved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Private source data stays local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467475" y="1714500"/>
          <a:ext xmlns:a="http://schemas.openxmlformats.org/drawingml/2006/main" cx="5029200" cy="3886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885950"/>
              </a:tblGrid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666962"/>
                          </a:solidFill>
                          <a:latin typeface="Manrope"/>
                          <a:ea typeface="Manrope"/>
                          <a:cs typeface="Manrope"/>
                        </a:rPr>
                        <a:t>Sheet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F5F3ED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1">
                          <a:solidFill>
                            <a:srgbClr val="666962"/>
                          </a:solidFill>
                          <a:latin typeface="Manrope"/>
                          <a:ea typeface="Manrope"/>
                          <a:cs typeface="Manrope"/>
                        </a:rPr>
                        <a:t>Rows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F5F3ED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Tlorder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4,031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Dispatch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10,479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Driver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131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Trucks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131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DCDDD5"/>
                      </a:solidFill>
                      <a:prstDash val="solid"/>
                    </a:lnB>
                    <a:solidFill>
                      <a:srgbClr val="F5F3E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Trailers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F5F3ED"/>
                      </a:solidFill>
                    </a:lnB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>
                          <a:solidFill>
                            <a:srgbClr val="242729"/>
                          </a:solidFill>
                          <a:latin typeface="Manrope"/>
                          <a:ea typeface="Manrope"/>
                          <a:cs typeface="Manrope"/>
                        </a:rPr>
                        <a:t>425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F5F3ED"/>
                      </a:solidFill>
                    </a:lnL>
                    <a:lnR w="9525">
                      <a:solidFill>
                        <a:srgbClr val="F5F3ED"/>
                      </a:solidFill>
                    </a:lnR>
                    <a:lnT w="9525">
                      <a:solidFill>
                        <a:srgbClr val="DCDDD5"/>
                      </a:solidFill>
                    </a:lnT>
                    <a:lnB w="9525">
                      <a:solidFill>
                        <a:srgbClr val="F5F3ED"/>
                      </a:solidFill>
                    </a:lnB>
                    <a:solidFill>
                      <a:srgbClr val="F5F3ED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7437EF-4485-495F-B094-81258E93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200775"/>
            <a:ext cx="10382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Public preview uses labeled synthetic operational scenarios.</a:t>
            </a:r>
          </a:p>
        </p:txBody>
      </p:sp>
    </p:spTree>
    <p:extLst>
      <p:ext uri="{BB962C8B-B14F-4D97-AF65-F5344CB8AC3E}">
        <p14:creationId xmlns:p14="http://schemas.microsoft.com/office/powerpoint/2010/main" val="13788036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633AEA-1E9F-4FA1-BE6C-9E0684DB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3AD82C-7E78-44A6-B977-89A7DE51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One operational database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046A8E-0DA5-4133-A593-0451CC44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145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CLIENTS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9DBFE-C96D-4134-B0F7-5C76715E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145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COMMANDS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394EAE-656D-4628-97EE-5C67C2E7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9145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STORAGE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6D0CEA-CAC0-4436-B19D-13E10B08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57450"/>
            <a:ext cx="276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4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Web + mobile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3D4BE-CC9E-4B35-89E4-DEEF81D5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57450"/>
            <a:ext cx="26765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475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Fastify 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DF7FD8-51BA-44EE-9F05-6343A004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457450"/>
            <a:ext cx="2809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2475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PostgreSQL</a:t>
            </a:r>
          </a:p>
        </p:txBody>
      </p:sp>
      <p:cxnSp>
        <p:nvCxnSpPr>
          <p:cNvPr id="2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381375" y="2781300"/>
            <a:ext cx="1209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6962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267575" y="2781300"/>
            <a:ext cx="1485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65C32"/>
            </a:solidFill>
            <a:prstDash val="solid"/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AAD463-4490-4C6F-90D0-71A3EC61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390900"/>
            <a:ext cx="30480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React dispatcher UI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Expo driver execution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567057-0C72-4BB0-9BD7-CBB4FFB8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390900"/>
            <a:ext cx="3238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Firebase identity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Carrier membership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Validated commands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3F7C88-E316-425B-8F6E-68379320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390900"/>
            <a:ext cx="2714625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Versions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Reservations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CF48BC-115E-47AB-AD55-B368F908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057775"/>
            <a:ext cx="10801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DD5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E10818-6791-4752-801E-1A3EE57E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101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725" b="1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Supporting capabilities used by the 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C16560-D1A6-4599-A967-38855E1B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67375"/>
            <a:ext cx="5886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Proposals: OR-Tools + Valhalla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59AE18-DCE9-4022-A93B-C1E2204D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667375"/>
            <a:ext cx="4857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Documents: Gemini extraction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CD141A-D0D3-40DE-8F63-3B1A411D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20077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42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Independent replay clock · Approval remains an explicit command.</a:t>
            </a:r>
          </a:p>
        </p:txBody>
      </p:sp>
    </p:spTree>
    <p:extLst>
      <p:ext uri="{BB962C8B-B14F-4D97-AF65-F5344CB8AC3E}">
        <p14:creationId xmlns:p14="http://schemas.microsoft.com/office/powerpoint/2010/main" val="10523563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300A80-82E3-4E8A-8679-79452E86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79F888-3A46-4C37-A2FF-A870AD65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Measured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8ECAC8-39CF-443F-A624-B85D0A55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90675"/>
            <a:ext cx="6257925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52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952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5.4 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FCFA8-7CA9-4961-9891-6B168B66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09950"/>
            <a:ext cx="614362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p95 acknowledgement-to-snapshot lag</a:t>
            </a:r>
          </a:p>
          <a:p xmlns:a="http://schemas.openxmlformats.org/drawingml/2006/main">
            <a:pPr>
              <a:defRPr sz="21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in the 131-driver cloud burst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D6CFE-026E-44D8-8B60-7EE59D21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866900"/>
            <a:ext cx="342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E65C32"/>
                </a:solidFill>
                <a:latin typeface="Manrope"/>
                <a:ea typeface="Manrope"/>
                <a:cs typeface="Manrope"/>
              </a:defRPr>
            </a:pPr>
            <a:r>
              <a:rPr sz="4950" b="1">
                <a:solidFill>
                  <a:srgbClr val="E65C32"/>
                </a:solidFill>
                <a:latin typeface="Manrope"/>
                <a:ea typeface="Manrope"/>
                <a:cs typeface="Manrope"/>
              </a:rPr>
              <a:t>524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BEA7E5-801C-494A-8F5C-8538792C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38450"/>
            <a:ext cx="352425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telemetry + synchronization pairs</a:t>
            </a:r>
          </a:p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Zero failed commands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6111C9-6968-4D90-82F3-81769C44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972050"/>
            <a:ext cx="630555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22 backend checks</a:t>
            </a:r>
          </a:p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23 mobile checks</a:t>
            </a:r>
          </a:p>
          <a:p xmlns:a="http://schemas.openxmlformats.org/drawingml/2006/main">
            <a:pPr>
              <a:defRPr sz="18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Real-road integration verified separately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28723A-440C-461D-BDC4-C64168D4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695825"/>
            <a:ext cx="351472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72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Physical background location and native iOS still need testing.</a:t>
            </a:r>
          </a:p>
          <a:p xmlns:a="http://schemas.openxmlformats.org/drawingml/2006/main">
            <a:pPr>
              <a:defRPr sz="172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72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Declared duty budgets are not a certified ELD.</a:t>
            </a:r>
          </a:p>
        </p:txBody>
      </p:sp>
    </p:spTree>
    <p:extLst>
      <p:ext uri="{BB962C8B-B14F-4D97-AF65-F5344CB8AC3E}">
        <p14:creationId xmlns:p14="http://schemas.microsoft.com/office/powerpoint/2010/main" val="3121228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CEC802-CB3C-44A6-916D-276767B4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11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fa346cc074494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001B5A-BCBF-4426-899C-8C926AAE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66750"/>
            <a:ext cx="6858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95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Next carrier</a:t>
            </a:r>
          </a:p>
          <a:p xmlns:a="http://schemas.openxmlformats.org/drawingml/2006/main">
            <a:pPr>
              <a:defRPr sz="495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495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D53EEA-C0B6-47E0-8645-2B6E4C5B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190875"/>
            <a:ext cx="585787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Physical device validation</a:t>
            </a:r>
          </a:p>
          <a:p xmlns:a="http://schemas.openxmlformats.org/drawingml/2006/main">
            <a:pPr>
              <a:defRPr sz="2025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Carrier inputs and facility review</a:t>
            </a:r>
          </a:p>
          <a:p xmlns:a="http://schemas.openxmlformats.org/drawingml/2006/main">
            <a:pPr>
              <a:defRPr sz="2025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Measured dispatcher and driver use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857729-5B77-43BB-80D2-ED163B85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48375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1350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roadstar-web-739889188415.us-central1.run.app</a:t>
            </a:r>
          </a:p>
        </p:txBody>
      </p:sp>
    </p:spTree>
    <p:extLst>
      <p:ext uri="{BB962C8B-B14F-4D97-AF65-F5344CB8AC3E}">
        <p14:creationId xmlns:p14="http://schemas.microsoft.com/office/powerpoint/2010/main" val="12154838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3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4D8AE8-0905-4A2D-ACFB-41BDA2F7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992F9E-8C6F-442C-8E8D-DFD5EF1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Concurrent approval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7E4B0F-614A-4DB9-883D-F9448CC5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3335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stable command key and expected version protect the same intent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6B1AE4-A634-40F3-9170-B859DE568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247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Command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843BFA-AB40-4959-8F41-3306837D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647950"/>
            <a:ext cx="25431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42729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242729"/>
                </a:solidFill>
                <a:latin typeface="Manrope"/>
                <a:ea typeface="Manrope"/>
                <a:cs typeface="Manrope"/>
              </a:rPr>
              <a:t>Recheck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01B34-34D1-4E66-927D-45261169C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479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AC3716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AC3716"/>
                </a:solidFill>
                <a:latin typeface="Manrope"/>
                <a:ea typeface="Manrope"/>
                <a:cs typeface="Manrope"/>
              </a:rPr>
              <a:t>Commit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24200" y="2895600"/>
            <a:ext cx="15144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DCDDD5"/>
            </a:solidFill>
            <a:prstDash val="solid"/>
          </a:ln>
        </p:spPr>
      </p:cxn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181850" y="2895600"/>
            <a:ext cx="1581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65C32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EF697B-A841-49E3-A60F-F3F7A322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304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Identity and version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Stable idempotency 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13184A-82E9-4AF8-8766-08D700D3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609975"/>
            <a:ext cx="33242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Current availability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Resource exclusion constraints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B4EF68-90C5-45A5-BBCA-FE1718F7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609975"/>
            <a:ext cx="28860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Atomic reservations</a:t>
            </a:r>
          </a:p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Commit-ordered events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B132ED-5808-4526-9DC3-70B85927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667375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962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666962"/>
                </a:solidFill>
                <a:latin typeface="Manrope"/>
                <a:ea typeface="Manrope"/>
                <a:cs typeface="Manrope"/>
              </a:rPr>
              <a:t>A stale proposal conflicts before mutation. A repeated key returns its original result.</a:t>
            </a:r>
          </a:p>
        </p:txBody>
      </p:sp>
    </p:spTree>
    <p:extLst>
      <p:ext uri="{BB962C8B-B14F-4D97-AF65-F5344CB8AC3E}">
        <p14:creationId xmlns:p14="http://schemas.microsoft.com/office/powerpoint/2010/main" val="21275367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91B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937FA-19D6-41E9-96EB-EEE57B4F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2960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1275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B9875D-B1A8-4A97-B22C-7B661F0B7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3600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Replay and telemetry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FD4077-66CD-43A4-B0DA-2EF88EB4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43100"/>
            <a:ext cx="5010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4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Replay conditions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68782-B04F-461D-851F-10E6A5C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1943100"/>
            <a:ext cx="50387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475" b="1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Telemetry interpretation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FF2208-EA8D-44A1-9880-B6FF60D0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24175"/>
            <a:ext cx="48863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Recorded starting conditions</a:t>
            </a:r>
          </a:p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Disclosed dock wait and road assumptions</a:t>
            </a:r>
          </a:p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An independent scenario clock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8BC6A2-7A22-4A24-B1D8-369B8E55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24175"/>
            <a:ext cx="49244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Duplicate samples do not double-count</a:t>
            </a:r>
          </a:p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Out-of-order samples retain history</a:t>
            </a:r>
          </a:p>
          <a:p xmlns:a="http://schemas.openxmlformats.org/drawingml/2006/main">
            <a:pPr>
              <a:defRPr sz="2100" b="0">
                <a:solidFill>
                  <a:srgbClr val="BFC2BA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BFC2BA"/>
                </a:solidFill>
                <a:latin typeface="Manrope"/>
                <a:ea typeface="Manrope"/>
                <a:cs typeface="Manrope"/>
              </a:rPr>
              <a:t>Uncertain boundaries stay uncertain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452D18-851B-43D3-934A-65DDF5B24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8165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5F3ED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F5F3ED"/>
                </a:solidFill>
                <a:latin typeface="Manrope"/>
                <a:ea typeface="Manrope"/>
                <a:cs typeface="Manrope"/>
              </a:rPr>
              <a:t>Operational outcomes remain separate from modeled savings.</a:t>
            </a:r>
          </a:p>
        </p:txBody>
      </p:sp>
    </p:spTree>
    <p:extLst>
      <p:ext uri="{BB962C8B-B14F-4D97-AF65-F5344CB8AC3E}">
        <p14:creationId xmlns:p14="http://schemas.microsoft.com/office/powerpoint/2010/main" val="11571212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2026-09-11T04:41:22.7260000Z</dcterms:created>
  <dcterms:modified xsi:type="dcterms:W3CDTF">2026-09-11T04:41:22.7260000Z</dcterms:modified>
</coreProperties>
</file>