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b5fd1f7fee4547" /><Relationship Type="http://schemas.openxmlformats.org/officeDocument/2006/relationships/extended-properties" Target="/docProps/app.xml" Id="R956e9cdd7abb42f3" /><Relationship Type="http://schemas.openxmlformats.org/officeDocument/2006/relationships/officeDocument" Target="/ppt/presentation.xml" Id="Rcf56f41e49e148e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227e90cf424db8"/>
  </p:sldMasterIdLst>
  <p:notesMasterIdLst>
    <p:notesMasterId xmlns:r="http://schemas.openxmlformats.org/officeDocument/2006/relationships" r:id="R58ec571a1b044c54"/>
  </p:notesMasterIdLst>
  <p:sldIdLst>
    <p:sldId xmlns:r="http://schemas.openxmlformats.org/officeDocument/2006/relationships" id="256" r:id="R0ad800c5582c45be"/>
    <p:sldId xmlns:r="http://schemas.openxmlformats.org/officeDocument/2006/relationships" id="257" r:id="R655401bcba4b4ddd"/>
    <p:sldId xmlns:r="http://schemas.openxmlformats.org/officeDocument/2006/relationships" id="258" r:id="R547bb9e412794837"/>
    <p:sldId xmlns:r="http://schemas.openxmlformats.org/officeDocument/2006/relationships" id="259" r:id="Rc38ef55b6a6542fe"/>
    <p:sldId xmlns:r="http://schemas.openxmlformats.org/officeDocument/2006/relationships" id="260" r:id="Rd0b33d2fe67a47be"/>
    <p:sldId xmlns:r="http://schemas.openxmlformats.org/officeDocument/2006/relationships" id="261" r:id="R1e84c372d33e4f17"/>
    <p:sldId xmlns:r="http://schemas.openxmlformats.org/officeDocument/2006/relationships" id="262" r:id="Rc74331142c2a42b5"/>
    <p:sldId xmlns:r="http://schemas.openxmlformats.org/officeDocument/2006/relationships" id="263" r:id="Rd54154d3f9004ccc"/>
    <p:sldId xmlns:r="http://schemas.openxmlformats.org/officeDocument/2006/relationships" id="264" r:id="Rffdf2b45b7424790"/>
    <p:sldId xmlns:r="http://schemas.openxmlformats.org/officeDocument/2006/relationships" id="265" r:id="R984c0bd8989246b2"/>
    <p:sldId xmlns:r="http://schemas.openxmlformats.org/officeDocument/2006/relationships" id="266" r:id="R9830ef882b3b4196"/>
    <p:sldId xmlns:r="http://schemas.openxmlformats.org/officeDocument/2006/relationships" id="267" r:id="Rc5e9cf50d08d4ec6"/>
    <p:sldId xmlns:r="http://schemas.openxmlformats.org/officeDocument/2006/relationships" id="268" r:id="Rae0e632b1e51447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2dd2d2080114738" /><Relationship Type="http://schemas.openxmlformats.org/officeDocument/2006/relationships/slideMaster" Target="/ppt/slideMasters/slideMaster1.xml" Id="Re2227e90cf424db8" /><Relationship Type="http://schemas.openxmlformats.org/officeDocument/2006/relationships/notesMaster" Target="/ppt/notesMasters/notesMaster1.xml" Id="R58ec571a1b044c54" /><Relationship Type="http://schemas.openxmlformats.org/officeDocument/2006/relationships/presProps" Target="/ppt/presProps.xml" Id="R48a47577d0c74552" /><Relationship Type="http://schemas.openxmlformats.org/officeDocument/2006/relationships/tableStyles" Target="/ppt/tableStyles.xml" Id="Rc9d9b068e20d45d6" /><Relationship Type="http://schemas.openxmlformats.org/officeDocument/2006/relationships/slide" Target="/ppt/slides/slide1.xml" Id="R0ad800c5582c45be" /><Relationship Type="http://schemas.openxmlformats.org/officeDocument/2006/relationships/slide" Target="/ppt/slides/slide2.xml" Id="R655401bcba4b4ddd" /><Relationship Type="http://schemas.openxmlformats.org/officeDocument/2006/relationships/slide" Target="/ppt/slides/slide3.xml" Id="R547bb9e412794837" /><Relationship Type="http://schemas.openxmlformats.org/officeDocument/2006/relationships/slide" Target="/ppt/slides/slide4.xml" Id="Rc38ef55b6a6542fe" /><Relationship Type="http://schemas.openxmlformats.org/officeDocument/2006/relationships/slide" Target="/ppt/slides/slide5.xml" Id="Rd0b33d2fe67a47be" /><Relationship Type="http://schemas.openxmlformats.org/officeDocument/2006/relationships/slide" Target="/ppt/slides/slide6.xml" Id="R1e84c372d33e4f17" /><Relationship Type="http://schemas.openxmlformats.org/officeDocument/2006/relationships/slide" Target="/ppt/slides/slide7.xml" Id="Rc74331142c2a42b5" /><Relationship Type="http://schemas.openxmlformats.org/officeDocument/2006/relationships/slide" Target="/ppt/slides/slide8.xml" Id="Rd54154d3f9004ccc" /><Relationship Type="http://schemas.openxmlformats.org/officeDocument/2006/relationships/slide" Target="/ppt/slides/slide9.xml" Id="Rffdf2b45b7424790" /><Relationship Type="http://schemas.openxmlformats.org/officeDocument/2006/relationships/slide" Target="/ppt/slides/slide10.xml" Id="R984c0bd8989246b2" /><Relationship Type="http://schemas.openxmlformats.org/officeDocument/2006/relationships/slide" Target="/ppt/slides/slide11.xml" Id="R9830ef882b3b4196" /><Relationship Type="http://schemas.openxmlformats.org/officeDocument/2006/relationships/slide" Target="/ppt/slides/slide12.xml" Id="Rc5e9cf50d08d4ec6" /><Relationship Type="http://schemas.openxmlformats.org/officeDocument/2006/relationships/slide" Target="/ppt/slides/slide13.xml" Id="Rae0e632b1e5144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4f7e5fd64047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2fbbab0dff46d9" /><Relationship Type="http://schemas.openxmlformats.org/officeDocument/2006/relationships/notesMaster" Target="/ppt/notesMasters/notesMaster1.xml" Id="Rc71a68d54f3641c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b8228a55a1438a" /><Relationship Type="http://schemas.openxmlformats.org/officeDocument/2006/relationships/notesMaster" Target="/ppt/notesMasters/notesMaster1.xml" Id="R9fe29f4c141842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21e4772a6f45f5" /><Relationship Type="http://schemas.openxmlformats.org/officeDocument/2006/relationships/notesMaster" Target="/ppt/notesMasters/notesMaster1.xml" Id="Rb2396d3df4284f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e0e9ab3aa74005" /><Relationship Type="http://schemas.openxmlformats.org/officeDocument/2006/relationships/notesMaster" Target="/ppt/notesMasters/notesMaster1.xml" Id="R6b96e493449147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5f166f037c4762" /><Relationship Type="http://schemas.openxmlformats.org/officeDocument/2006/relationships/notesMaster" Target="/ppt/notesMasters/notesMaster1.xml" Id="Rd1866331f1ed4e7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32262327004497" /><Relationship Type="http://schemas.openxmlformats.org/officeDocument/2006/relationships/notesMaster" Target="/ppt/notesMasters/notesMaster1.xml" Id="R30ab324c776c4c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359bcc03704350" /><Relationship Type="http://schemas.openxmlformats.org/officeDocument/2006/relationships/notesMaster" Target="/ppt/notesMasters/notesMaster1.xml" Id="Rc5ec1e577bd14e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1c3c3d191af40f2" /><Relationship Type="http://schemas.openxmlformats.org/officeDocument/2006/relationships/notesMaster" Target="/ppt/notesMasters/notesMaster1.xml" Id="Re3760a448c18430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0e4356ee3d4a47" /><Relationship Type="http://schemas.openxmlformats.org/officeDocument/2006/relationships/notesMaster" Target="/ppt/notesMasters/notesMaster1.xml" Id="Rf8a2ada8fc784f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51d4af9043d4936" /><Relationship Type="http://schemas.openxmlformats.org/officeDocument/2006/relationships/notesMaster" Target="/ppt/notesMasters/notesMaster1.xml" Id="Rf3db6c3a1c624e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d464df4b81f4f94" /><Relationship Type="http://schemas.openxmlformats.org/officeDocument/2006/relationships/notesMaster" Target="/ppt/notesMasters/notesMaster1.xml" Id="Rbb6915b88d7b407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cd3a0bcdd6b494c" /><Relationship Type="http://schemas.openxmlformats.org/officeDocument/2006/relationships/notesMaster" Target="/ppt/notesMasters/notesMaster1.xml" Id="R3b259a044fbb4f6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19c4ca485fb4180" /><Relationship Type="http://schemas.openxmlformats.org/officeDocument/2006/relationships/notesMaster" Target="/ppt/notesMasters/notesMaster1.xml" Id="R0d8a8e89953d41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35 seconds. Introduce carrier dispatch recovery. Demonstration records are synthetic. Show actual app immediately after this opening. No customer records are published.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seconds. Explain a dispatcher coordinating resource commitments. This is a scenario, not an estimate of industry-wide cost or frequency.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80 seconds. Switch to live cloud film-demo or downloaded recording. Record expected departure and inspect the affected next load. Sources: actual RoadStar cloud browser capture, docs/evidence/cloud-auth-smoke.json. Visual: September 10 design-film cloud recording, 01-dock-delay-end.png, exact disruption strip. 12:00 planned departure, 13:30 expected departure, 12:15 next pickup, ET. Final frozen web source: capture-final/delay-impact.png, expanded real delay record in design-final synthetic carrier, September 10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65 seconds. Show current assignment and proposed D02/T102/V102. Approval rechecks versions and availability, then commits reservations and driver offer atomically. Source: tests/postgres.test.ts and actual cloud recovery verification. Visual: exact modal frame at 16 seconds from the new design-film 02-recovery-approval recording. Actual proposal and approval API responses succeeded. Final frozen web source: capture-final/approval-review.png, exact displayed consequential approval dialog in design-final carrier. The capture precedes the explicit confirmation.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65 seconds. Native API35 Android emulator testing: Firebase login, offline acceptance, force-stop, restored session/downloaded trip/note/pending key, reconnect to accepted version2. Physical device background location and native iOS remain unverified. Current visual: actual September 10 Android API35 emulator Today screen. RS1043 accepted, pickup already completed, delivery is next. The screenshot does not claim a newly completed delivery or a new offline acceptance test. Density refresh: final native screenshot mobile/34-today-frozen.png, consistent RoadStar case and compact header. State remains accepted with delivery next. Final source freeze uses mobile/41-today-final.png. Compact one-row identity header and explicit synthetic scenario label. Original facility values remain unchanged underneath their shortened display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 seconds. Show original synthetic PDF and reviewed fields. Source hash/model output retained. Same-stop arrival/departure samples and configured terms produce draft. Human approval retains draft and creates new revision; no payment. Source: docs/evidence/cloud-document-extraction.json and actual cloud billing capture. Visual: retained actual synthetic cloud billing panel, cropped to the stop record and draft/approved revisions without changing content. Density refresh source: cloud-current/web-billing-panel.png. Same approved revision and original draft, original amounts and observed precision preserved.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55 seconds. Real OR-Tools with Valhalla truck matrix produced two LTL pickups and two deliveries. Cloud planning-demo approved, accepted and completed global order. Three vehicle-resource reservations stay active until every load completes. Synthetic26-pallet allowance disclosed. Source: docs/evidence/cloud-planning-verification.json and tests/group-road.test.ts. Visual: retained actual planning-demo completed two-load, four-stop manifest in the redesigned UI. Density refresh source: cloud-current/web-completed-manifest.png. Same actual completed two-load/four-stop fixture.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50 seconds. Imported15197 rows locally only.82 exact duplicates in Dispatch. Source originals, missing fields and historical dates retained. No customer rows shown or uploaded. Source: docs/evidence/workbook-import.json.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50 seconds. Cloud Run Fastify owns state changes. Dedicated PG16/PostGIS owns truth; ORTools/Valhalla compute; Vertex extracts; independent simulator posts synthetic events. API accepts no AI approval. See infra/gcp/README.md and services/api/src/store.ts.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55 seconds. Do not claim complete legal HOS, guaranteed2s latency, realdevice/iOS or productioncapacity. Cloud benchmark524 telemetry+524syncpairs, no failures, ownacktosnapshotp955448ms. Real-road group integration separate enabled test. Source artifacts under docs/evidence.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seconds. Ask carrier to evaluate complete recovery workflow with permissioned operational input. Physicalhardwarecurrentlyunavailable. No invented customer adoption, measuredsavings or revenue. Full testinginstructions in local submission handoff.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120 seconds. Optional2 minutes. PostgreSQL btree_gist exclusion onresourceperiods. Commands have stableidempotencykey+expectedversion; staleproposal yields conflictbeforemutation. Per-carrier exclusivecommands sharedtelemetrytriplocks; eventinsertionlock ensurescommitordercursor. Explain rollback boundaries and carrier membership.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180 seconds. Optional3 minutes. Simulator actualroadroute, constantspeed/dockwaitassumptions. Identicalstartingconditionshash; scenario clocks neveroverwriteoperationtime. Duplicate/outoforder retained withoutdoublecount; entireaccuracydisc determinesinside/outside; uncertainboundarynotarrival. Benchmark burstbarrier/warmdataqualifiers.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7d1aea9b27428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1c2a1372e04eb9" /><Relationship Type="http://schemas.openxmlformats.org/officeDocument/2006/relationships/slideLayout" Target="/ppt/slideLayouts/slideLayout1.xml" Id="Rae490f2208064b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490f2208064b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f819969ec4195" /><Relationship Type="http://schemas.openxmlformats.org/officeDocument/2006/relationships/image" Target="/ppt/media/image.png" Id="Raa64d33c897d45aa" /><Relationship Type="http://schemas.openxmlformats.org/officeDocument/2006/relationships/image" Target="/ppt/media/image2.png" Id="Rd98ec958c7ac49f1" /><Relationship Type="http://schemas.openxmlformats.org/officeDocument/2006/relationships/image" Target="/ppt/media/image.svg" Id="R12179e68c4ae466c" /><Relationship Type="http://schemas.openxmlformats.org/officeDocument/2006/relationships/notesSlide" Target="/ppt/notesSlides/notesSlide1.xml" Id="R1746fa3d4d1641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f1a3da2ff7484a" /><Relationship Type="http://schemas.openxmlformats.org/officeDocument/2006/relationships/notesSlide" Target="/ppt/notesSlides/notesSlide2.xml" Id="Ra0c57fdf16a64c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9378e247874418" /><Relationship Type="http://schemas.openxmlformats.org/officeDocument/2006/relationships/image" Target="/ppt/media/image3.png" Id="R7e2776c2f2c34d69" /><Relationship Type="http://schemas.openxmlformats.org/officeDocument/2006/relationships/notesSlide" Target="/ppt/notesSlides/notesSlide3.xml" Id="Rde93f95ead4b47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5a42914d844410" /><Relationship Type="http://schemas.openxmlformats.org/officeDocument/2006/relationships/image" Target="/ppt/media/image4.png" Id="R4b124bac01364fdb" /><Relationship Type="http://schemas.openxmlformats.org/officeDocument/2006/relationships/notesSlide" Target="/ppt/notesSlides/notesSlide4.xml" Id="Rc1d2d1dfdb5b4e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a8942b5f1f4dd8" /><Relationship Type="http://schemas.openxmlformats.org/officeDocument/2006/relationships/image" Target="/ppt/media/image5.png" Id="R8a1d81149ac44c92" /><Relationship Type="http://schemas.openxmlformats.org/officeDocument/2006/relationships/notesSlide" Target="/ppt/notesSlides/notesSlide5.xml" Id="R0ec2ec883ad74e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39848c4ef64cde" /><Relationship Type="http://schemas.openxmlformats.org/officeDocument/2006/relationships/image" Target="/ppt/media/image6.png" Id="R55514447da8d4219" /><Relationship Type="http://schemas.openxmlformats.org/officeDocument/2006/relationships/notesSlide" Target="/ppt/notesSlides/notesSlide6.xml" Id="R3e9fa8d3c199438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4d55310ac4553" /><Relationship Type="http://schemas.openxmlformats.org/officeDocument/2006/relationships/image" Target="/ppt/media/image7.png" Id="Re3df9365f31446b3" /><Relationship Type="http://schemas.openxmlformats.org/officeDocument/2006/relationships/notesSlide" Target="/ppt/notesSlides/notesSlide7.xml" Id="Rcfb7930c2a7840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caaff1bb4d4095" /><Relationship Type="http://schemas.openxmlformats.org/officeDocument/2006/relationships/notesSlide" Target="/ppt/notesSlides/notesSlide8.xml" Id="R57705c44cfef46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6b1c8407a64111" /><Relationship Type="http://schemas.openxmlformats.org/officeDocument/2006/relationships/notesSlide" Target="/ppt/notesSlides/notesSlide9.xml" Id="R632f196af7b145f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d70dcfbfb5431d" /><Relationship Type="http://schemas.openxmlformats.org/officeDocument/2006/relationships/notesSlide" Target="/ppt/notesSlides/notesSlide10.xml" Id="Rfb2adde3c36e4da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8be9e7891434c" /><Relationship Type="http://schemas.openxmlformats.org/officeDocument/2006/relationships/image" Target="/ppt/media/image8.png" Id="R0ce3ca2b783d45c2" /><Relationship Type="http://schemas.openxmlformats.org/officeDocument/2006/relationships/notesSlide" Target="/ppt/notesSlides/notesSlide11.xml" Id="R14446a5a3a0e4a6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2e1f2531d1458f" /><Relationship Type="http://schemas.openxmlformats.org/officeDocument/2006/relationships/notesSlide" Target="/ppt/notesSlides/notesSlide12.xml" Id="R77ecc58fb8944c7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9adbb6d4954e68" /><Relationship Type="http://schemas.openxmlformats.org/officeDocument/2006/relationships/notesSlide" Target="/ppt/notesSlides/notesSlide13.xml" Id="R4ba15649b9934d1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B6D10B-AE51-4F85-9EFE-FD499CF7D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64d33c897d45a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8ec958c7ac49f1">
            <a:extLst>
              <a:ext uri="{96DAC541-7B7A-43D3-8B79-37D633B846F1}">
                <asvg:svgBlip xmlns:asvg="http://schemas.microsoft.com/office/drawing/2016/SVG/main" r:embed="R12179e68c4ae466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38175" y="933450"/>
            <a:ext cx="542925" cy="6096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0A282-A578-4176-B75C-842ECF098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714375"/>
            <a:ext cx="57150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8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68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RoadStar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D09ED7-8D7D-4FA6-BDE5-971E286E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8120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150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Dispatch recovery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5BDE63-B342-485A-883A-C12F89F8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4524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Carrier decisions. Driver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AB2522-831A-418F-8489-7AB94146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500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RoadStar Hackathon 2026</a:t>
            </a:r>
          </a:p>
        </p:txBody>
      </p:sp>
    </p:spTree>
    <p:extLst>
      <p:ext uri="{BB962C8B-B14F-4D97-AF65-F5344CB8AC3E}">
        <p14:creationId xmlns:p14="http://schemas.microsoft.com/office/powerpoint/2010/main" val="17360354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52F973-AA57-4B88-A6DA-8D7E0422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04E00F-D8B1-4676-B7B8-0D2DA3C7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76300"/>
            <a:ext cx="6000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A dock delay</a:t>
            </a:r>
          </a:p>
          <a:p xmlns:a="http://schemas.openxmlformats.org/drawingml/2006/main">
            <a:pPr>
              <a:defRPr sz="5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reaches the</a:t>
            </a:r>
          </a:p>
          <a:p xmlns:a="http://schemas.openxmlformats.org/drawingml/2006/main">
            <a:pPr>
              <a:defRPr sz="5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next pickup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6369B7-7FF5-47EA-BE22-57BF882B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43450"/>
            <a:ext cx="5524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dispatcher must reconnect the next assignment with available resources.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E84A31-4131-49F0-80F6-1085FE56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5049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27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Dock delay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C69723-3D4D-4887-9862-1DC60247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575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7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Next pickup</a:t>
            </a:r>
          </a:p>
        </p:txBody>
      </p:sp>
      <p:cxnSp>
        <p:nvCxnSpPr>
          <p:cNvPr id="15" name=""/>
          <p:cNvCxnSpPr>
            <a:stCxn xmlns:a="http://schemas.openxmlformats.org/drawingml/2006/main" id="4" idx="1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696200" y="1838325"/>
            <a:ext cx="0" cy="155257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E65C32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65DB6C-1EB9-4EA3-95A7-F8B61DF0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3050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5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Current truck is still committed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BDB5C6-911F-4DDB-9BD5-E54D5BF5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905250"/>
            <a:ext cx="29527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Driver</a:t>
            </a:r>
          </a:p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Truck</a:t>
            </a:r>
          </a:p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Trailer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3C5746-0B83-4731-8ED1-A4500422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924550"/>
            <a:ext cx="3524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Illustrative dispatch scenario</a:t>
            </a:r>
          </a:p>
        </p:txBody>
      </p:sp>
    </p:spTree>
    <p:extLst>
      <p:ext uri="{BB962C8B-B14F-4D97-AF65-F5344CB8AC3E}">
        <p14:creationId xmlns:p14="http://schemas.microsoft.com/office/powerpoint/2010/main" val="6774169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CBAA3C-52C0-4DF2-AAD6-42437728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A7451B-3DFC-4827-860F-44559B4E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Recovery rehearsal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8B5A72-2A27-4B14-AA75-CBC05F70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4777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delayed departure makes the next assignment visible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2776c2f2c34d69"/>
          <a:stretch xmlns:a="http://schemas.openxmlformats.org/drawingml/2006/main"/>
        </p:blipFill>
        <p:spPr>
          <a:xfrm xmlns:a="http://schemas.openxmlformats.org/drawingml/2006/main">
            <a:off x="676275" y="2000250"/>
            <a:ext cx="10839450" cy="1676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F41FBE-9854-4A24-B6C8-F7C45DC8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76700"/>
            <a:ext cx="34385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12:00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A87290-B3E1-436A-A99D-C82A09C9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038725"/>
            <a:ext cx="3295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Planned departure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FAB194-9C69-4BF7-B091-5902DEC1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076700"/>
            <a:ext cx="34385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5100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13:30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FEF392-D66E-4867-99FC-D16C57DE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5038725"/>
            <a:ext cx="3371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Expected departure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108CF1-FF51-4263-A839-4BFA3AE98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76700"/>
            <a:ext cx="31527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12:15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A48DAD-FAF8-4233-864B-0717943F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038725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Next pickup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329736-38FE-4E3F-881A-C7404B10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00775"/>
            <a:ext cx="1038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Synthetic scenario. Times in ET. Actual Ontario truck routing supports the recovery.</a:t>
            </a:r>
          </a:p>
        </p:txBody>
      </p:sp>
    </p:spTree>
    <p:extLst>
      <p:ext uri="{BB962C8B-B14F-4D97-AF65-F5344CB8AC3E}">
        <p14:creationId xmlns:p14="http://schemas.microsoft.com/office/powerpoint/2010/main" val="16534738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D0E92F-D186-4D70-A8EA-C412C734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A9ED9-537A-4D9C-A04B-7246E0CC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5334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1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1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Approval</a:t>
            </a:r>
          </a:p>
          <a:p xmlns:a="http://schemas.openxmlformats.org/drawingml/2006/main">
            <a:pPr>
              <a:defRPr sz="41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1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against current</a:t>
            </a:r>
          </a:p>
          <a:p xmlns:a="http://schemas.openxmlformats.org/drawingml/2006/main">
            <a:pPr>
              <a:defRPr sz="41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1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CC1887-982F-46E4-B626-8B1DDF9B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766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The server rechecks the proposal at the moment of approval.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D38C92-6B19-492E-A41E-94340ECD1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9720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Versions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6E4E72-6112-4EEF-ACAA-4367B57A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102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Availability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DC1C76-D072-40FA-9E6D-794F2A238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8483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Atomic reservations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124bac01364fdb"/>
          <a:stretch xmlns:a="http://schemas.openxmlformats.org/drawingml/2006/main"/>
        </p:blipFill>
        <p:spPr>
          <a:xfrm xmlns:a="http://schemas.openxmlformats.org/drawingml/2006/main">
            <a:off x="5387248" y="1266825"/>
            <a:ext cx="6332404" cy="4238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4321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9078AA-65F4-40D5-83DB-B346AE052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6A6A22-15B0-40E8-A9E0-9597A6EB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85800"/>
            <a:ext cx="6667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72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472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The driver</a:t>
            </a:r>
          </a:p>
          <a:p xmlns:a="http://schemas.openxmlformats.org/drawingml/2006/main">
            <a:pPr>
              <a:defRPr sz="472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472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keeps the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8ED396-F9D7-4C1E-B048-672C3DD7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533650"/>
            <a:ext cx="533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Acceptance stays visible through an offline interruption.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198C70-8098-492F-8CF7-4090834E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8671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F3EAC8-45B4-494E-A774-50D1C2B8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3867150"/>
            <a:ext cx="4619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Pending while offline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E9D5C6-2B20-48AE-972A-806C2FC7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910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7CECE9-E37A-4E6E-82B9-4DC58D27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591050"/>
            <a:ext cx="5191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Trip and draft survive termination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5414B-0DFD-4716-9210-572FBBE7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3149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AE4850-31E8-45CA-B62A-575954D0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5314950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Server confirms the command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1d81149ac44c92"/>
          <a:stretch xmlns:a="http://schemas.openxmlformats.org/drawingml/2006/main"/>
        </p:blipFill>
        <p:spPr>
          <a:xfrm xmlns:a="http://schemas.openxmlformats.org/drawingml/2006/main">
            <a:off x="7946708" y="266700"/>
            <a:ext cx="2794635" cy="62103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B9891E-96E6-4DA4-90AA-439AB684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Android emulator verified. Physical phone and native iOS remain unverified.</a:t>
            </a:r>
          </a:p>
        </p:txBody>
      </p:sp>
    </p:spTree>
    <p:extLst>
      <p:ext uri="{BB962C8B-B14F-4D97-AF65-F5344CB8AC3E}">
        <p14:creationId xmlns:p14="http://schemas.microsoft.com/office/powerpoint/2010/main" val="19844121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AB1DD8-7C63-48C6-8DAC-BC27F972B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590D1-0A8E-4055-A629-020DF0ED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Documents and detention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92FE17-6CA2-4155-BA90-341E6E7D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763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reviewed revision keeps the original draft in view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514447da8d4219"/>
          <a:stretch xmlns:a="http://schemas.openxmlformats.org/drawingml/2006/main"/>
        </p:blipFill>
        <p:spPr>
          <a:xfrm xmlns:a="http://schemas.openxmlformats.org/drawingml/2006/main">
            <a:off x="836768" y="2085975"/>
            <a:ext cx="10518464" cy="40576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3A349-2D06-4927-AFC7-B864FE6C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19825"/>
            <a:ext cx="10382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Observed samples require review. Billing approval does not initiate payment.</a:t>
            </a:r>
          </a:p>
        </p:txBody>
      </p:sp>
    </p:spTree>
    <p:extLst>
      <p:ext uri="{BB962C8B-B14F-4D97-AF65-F5344CB8AC3E}">
        <p14:creationId xmlns:p14="http://schemas.microsoft.com/office/powerpoint/2010/main" val="586166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CA5C45-035E-48F2-B3B4-880ACD1D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9DD7DF-DD54-4CD6-9C35-124AFA25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5619750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60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660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2 loads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DDDDCA-5214-4645-84ED-1D84ACFF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5715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15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4 ordered stops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9447AA-1CC5-41DA-9E1A-7130D8C8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447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One vehicle pairing</a:t>
            </a:r>
          </a:p>
          <a:p xmlns:a="http://schemas.openxmlformats.org/drawingml/2006/main">
            <a:pPr>
              <a:defRPr sz="22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One approval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df9365f31446b3"/>
          <a:stretch xmlns:a="http://schemas.openxmlformats.org/drawingml/2006/main"/>
        </p:blipFill>
        <p:spPr>
          <a:xfrm xmlns:a="http://schemas.openxmlformats.org/drawingml/2006/main">
            <a:off x="6000750" y="920413"/>
            <a:ext cx="5667375" cy="498859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86677C-9CF2-4117-926B-243932C2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67325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Reservations stay active until every load completes.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DF3B0D-4736-4AFD-A922-68D173419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57925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Synthetic pallet capacity disclosed</a:t>
            </a:r>
          </a:p>
        </p:txBody>
      </p:sp>
    </p:spTree>
    <p:extLst>
      <p:ext uri="{BB962C8B-B14F-4D97-AF65-F5344CB8AC3E}">
        <p14:creationId xmlns:p14="http://schemas.microsoft.com/office/powerpoint/2010/main" val="4581913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FEABC0-5DB9-42FC-996D-B7654015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A44D48-B326-41EE-924F-9C802E19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All five sheets retain lineage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B150FF-1033-486B-9EF9-10910E2E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05000"/>
            <a:ext cx="5429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02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802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15,197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FB302E-0029-49FB-9F33-FE02F3F2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19475"/>
            <a:ext cx="457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4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source rows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64D35-0875-409C-A01E-2055F5A6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19600"/>
            <a:ext cx="6000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82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17CF6A-5708-446A-A694-DF3F1180B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19600"/>
            <a:ext cx="4743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exact Dispatch duplicates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13C08B-4D3F-4F68-B25F-FE2062D7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886325"/>
            <a:ext cx="5191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Historical provenance preserved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Private source data stays local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467475" y="1714500"/>
          <a:ext xmlns:a="http://schemas.openxmlformats.org/drawingml/2006/main" cx="5029200" cy="3886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885950"/>
              </a:tblGrid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666962"/>
                          </a:solidFill>
                          <a:latin typeface="Manrope"/>
                          <a:ea typeface="Manrope"/>
                          <a:cs typeface="Manrope"/>
                        </a:rPr>
                        <a:t>Sheet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F5F3ED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1">
                          <a:solidFill>
                            <a:srgbClr val="666962"/>
                          </a:solidFill>
                          <a:latin typeface="Manrope"/>
                          <a:ea typeface="Manrope"/>
                          <a:cs typeface="Manrope"/>
                        </a:rPr>
                        <a:t>Rows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F5F3ED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Tlorder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4,031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Dispatch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10,479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Driver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131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Trucks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131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Trailers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F5F3ED"/>
                      </a:solidFill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425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F5F3ED"/>
                      </a:solidFill>
                    </a:lnB>
                    <a:solidFill>
                      <a:srgbClr val="F5F3ED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1BD8EB-915B-410E-A160-EA4E7CCE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00775"/>
            <a:ext cx="10382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Public preview uses labeled synthetic operational scenarios.</a:t>
            </a:r>
          </a:p>
        </p:txBody>
      </p:sp>
    </p:spTree>
    <p:extLst>
      <p:ext uri="{BB962C8B-B14F-4D97-AF65-F5344CB8AC3E}">
        <p14:creationId xmlns:p14="http://schemas.microsoft.com/office/powerpoint/2010/main" val="20961169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2915C0-3722-43B3-9B1B-8E9AC538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F2CD2C-0A8E-4DA0-BBE9-E4DDA92BE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One operational database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59A59E-0AE4-4164-8293-5D1DBDB1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32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React web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5360A-4B33-4AB7-AA5E-28B67DC4D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800350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6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Dispatcher decisions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1DBA5E-B0B1-45BA-8361-B9F96423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33800"/>
            <a:ext cx="2076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32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Expo mobile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665786-E21D-417B-956A-35031D30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38650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6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Driver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FB403F-9235-4073-AA6A-B680D516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90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96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4FD072-4BB5-4AF9-871F-3DF3DFE0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24175"/>
            <a:ext cx="22955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62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Fastify 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048ED3-C0C0-458D-9380-43CB697D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924175"/>
            <a:ext cx="2800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262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PostgreSQL</a:t>
            </a:r>
          </a:p>
        </p:txBody>
      </p: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2476500" y="2390775"/>
            <a:ext cx="1200150" cy="800100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666962"/>
            </a:solidFill>
            <a:prstDash val="solid"/>
          </a:ln>
        </p:spPr>
      </p:cxnSp>
      <p:cxnSp>
        <p:nvCxnSpPr>
          <p:cNvPr id="28" name=""/>
          <p:cNvCxnSpPr>
            <a:stCxn xmlns:a="http://schemas.openxmlformats.org/drawingml/2006/main" id="5" idx="3"/>
            <a:endCxn xmlns:a="http://schemas.openxmlformats.org/drawingml/2006/main" id="7" idx="4"/>
          </p:cNvCxnSpPr>
          <p:nvPr/>
        </p:nvCxnSpPr>
        <p:spPr>
          <a:xfrm xmlns:a="http://schemas.openxmlformats.org/drawingml/2006/main" flipV="1">
            <a:off x="2695575" y="3267075"/>
            <a:ext cx="981075" cy="762000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666962"/>
            </a:solidFill>
            <a:prstDash val="solid"/>
          </a:ln>
        </p:spPr>
      </p:cxnSp>
      <p:cxnSp>
        <p:nvCxnSpPr>
          <p:cNvPr id="29" name=""/>
          <p:cNvCxnSpPr>
            <a:stCxn xmlns:a="http://schemas.openxmlformats.org/drawingml/2006/main" id="7" idx="6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714750" y="322897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6962"/>
            </a:solidFill>
            <a:prstDash val="solid"/>
            <a:tailEnd type="triangle" w="sm" len="sm"/>
          </a:ln>
        </p:spPr>
      </p:cxnSp>
      <p:cxnSp>
        <p:nvCxnSpPr>
          <p:cNvPr id="30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6810375" y="3228975"/>
            <a:ext cx="1962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65C32"/>
            </a:solidFill>
            <a:prstDash val="solid"/>
            <a:tailEnd type="triangle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4B2698-D547-4C94-A44E-C54E86B0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43350"/>
            <a:ext cx="34575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0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Firebase identity</a:t>
            </a:r>
          </a:p>
          <a:p xmlns:a="http://schemas.openxmlformats.org/drawingml/2006/main">
            <a:pPr>
              <a:defRPr sz="180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0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Carrier membership</a:t>
            </a:r>
          </a:p>
          <a:p xmlns:a="http://schemas.openxmlformats.org/drawingml/2006/main">
            <a:pPr>
              <a:defRPr sz="180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0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Validated commands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048863-8951-436A-A8C6-C3E19835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943350"/>
            <a:ext cx="26384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0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Versions</a:t>
            </a:r>
          </a:p>
          <a:p xmlns:a="http://schemas.openxmlformats.org/drawingml/2006/main">
            <a:pPr>
              <a:defRPr sz="180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0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Reservations</a:t>
            </a:r>
          </a:p>
          <a:p xmlns:a="http://schemas.openxmlformats.org/drawingml/2006/main">
            <a:pPr>
              <a:defRPr sz="180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0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6429ED-C853-42AF-8FEC-CF67C7E98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572125"/>
            <a:ext cx="1047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0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OR-Tools and Valhalla compute proposals. Gemini extracts fields.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4600A4-D7E5-4FE4-BA15-3B5F2FA2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143625"/>
            <a:ext cx="1047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42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Independent replay keeps its own scenario clock. Approval remains an explicit command.</a:t>
            </a:r>
          </a:p>
        </p:txBody>
      </p:sp>
    </p:spTree>
    <p:extLst>
      <p:ext uri="{BB962C8B-B14F-4D97-AF65-F5344CB8AC3E}">
        <p14:creationId xmlns:p14="http://schemas.microsoft.com/office/powerpoint/2010/main" val="8000713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F2E747-8CAE-4C7E-9BB1-E70A1615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C0E62F-8095-4C06-999F-6200F51A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Measured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A0754-188A-4912-BB7C-93C30D4A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90675"/>
            <a:ext cx="6257925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5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95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5.4 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AB2B79-728C-4BA5-BA61-7A39C8AD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09950"/>
            <a:ext cx="614362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p95 acknowledgement-to-snapshot lag</a:t>
            </a:r>
          </a:p>
          <a:p xmlns:a="http://schemas.openxmlformats.org/drawingml/2006/main">
            <a:pPr>
              <a:defRPr sz="21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in the 131-driver cloud burst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80D6B-5694-4CBF-A783-F99029A0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866900"/>
            <a:ext cx="342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E65C32"/>
                </a:solidFill>
                <a:latin typeface="Manrope"/>
                <a:ea typeface="Manrope"/>
                <a:cs typeface="Manrope"/>
              </a:defRPr>
            </a:pPr>
            <a:r>
              <a:rPr sz="4950" b="1">
                <a:solidFill>
                  <a:srgbClr val="E65C32"/>
                </a:solidFill>
                <a:latin typeface="Manrope"/>
                <a:ea typeface="Manrope"/>
                <a:cs typeface="Manrope"/>
              </a:rPr>
              <a:t>524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746CEF-A0DF-47AA-BCA2-CACFCB3C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38450"/>
            <a:ext cx="352425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telemetry + synchronization pairs</a:t>
            </a:r>
          </a:p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Zero failed commands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6531B-C81F-4B08-A7B7-DC3326B2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972050"/>
            <a:ext cx="630555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22 backend checks</a:t>
            </a:r>
          </a:p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23 mobile checks</a:t>
            </a:r>
          </a:p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Real-road integration verified separately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C6F67D-D5BF-45FA-A6B6-84363035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695825"/>
            <a:ext cx="351472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72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Physical background location and native iOS still need testing.</a:t>
            </a:r>
          </a:p>
          <a:p xmlns:a="http://schemas.openxmlformats.org/drawingml/2006/main">
            <a:pPr>
              <a:defRPr sz="172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72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Declared duty budgets are not a certified ELD.</a:t>
            </a:r>
          </a:p>
        </p:txBody>
      </p:sp>
    </p:spTree>
    <p:extLst>
      <p:ext uri="{BB962C8B-B14F-4D97-AF65-F5344CB8AC3E}">
        <p14:creationId xmlns:p14="http://schemas.microsoft.com/office/powerpoint/2010/main" val="10295108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A1DD5C-30D5-4DBC-BA91-F0605E2FA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11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e3ca2b783d45c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F6CD90-E2FF-4CA3-AD35-C24FBDE2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66750"/>
            <a:ext cx="6858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95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Next carrier</a:t>
            </a:r>
          </a:p>
          <a:p xmlns:a="http://schemas.openxmlformats.org/drawingml/2006/main">
            <a:pPr>
              <a:defRPr sz="495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95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738A8-F14B-4804-868A-4A3F01F86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190875"/>
            <a:ext cx="585787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Physical device validation</a:t>
            </a:r>
          </a:p>
          <a:p xmlns:a="http://schemas.openxmlformats.org/drawingml/2006/main">
            <a:pPr>
              <a:defRPr sz="2025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Carrier inputs and facility review</a:t>
            </a:r>
          </a:p>
          <a:p xmlns:a="http://schemas.openxmlformats.org/drawingml/2006/main">
            <a:pPr>
              <a:defRPr sz="2025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Measured dispatcher and driver use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E77B39-8F1F-4205-AAB9-58CACDEB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48375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roadstar-web-739889188415.us-central1.run.app</a:t>
            </a:r>
          </a:p>
        </p:txBody>
      </p:sp>
    </p:spTree>
    <p:extLst>
      <p:ext uri="{BB962C8B-B14F-4D97-AF65-F5344CB8AC3E}">
        <p14:creationId xmlns:p14="http://schemas.microsoft.com/office/powerpoint/2010/main" val="18526586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7AB886-7D13-4146-9404-58AF4E9C4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D7EDB0-F199-4AF6-BE65-CE247CEA4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Concurrent approval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D118B7-1164-4AB6-8E2D-C884F72B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3335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stable command key and expected version protect the same intent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165346-C2F7-4EB5-9E69-04BCF39E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247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Command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44128D-5B92-4E3C-B265-431F0DD8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647950"/>
            <a:ext cx="25431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Recheck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B58CBC-BA5C-4F54-932A-52155C9F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479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Commit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24200" y="2895600"/>
            <a:ext cx="15144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DCDDD5"/>
            </a:solidFill>
            <a:prstDash val="solid"/>
          </a:ln>
        </p:spPr>
      </p:cxn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181850" y="2895600"/>
            <a:ext cx="1581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65C32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9433BB-FB79-4E91-BB4F-C7AF06F4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304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Identity and version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Stable idempotency 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4D28DC-C853-4CD6-A707-CFB72D9B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609975"/>
            <a:ext cx="33242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Current availability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Resource exclusion constraints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901C36-94C7-4D87-AE11-934E0000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609975"/>
            <a:ext cx="28860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Atomic reservations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Commit-ordered events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4E518-DA47-4765-A73A-8BD49CC5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667375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stale proposal conflicts before mutation. A repeated key returns its original result.</a:t>
            </a:r>
          </a:p>
        </p:txBody>
      </p:sp>
    </p:spTree>
    <p:extLst>
      <p:ext uri="{BB962C8B-B14F-4D97-AF65-F5344CB8AC3E}">
        <p14:creationId xmlns:p14="http://schemas.microsoft.com/office/powerpoint/2010/main" val="47440092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FBB9DB-C429-475D-9B44-C28885BD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1C6CBE-0FA1-475F-A874-BCC0034F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Replay and telemetry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8BA3AA-1573-4083-81A6-E36887DA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43100"/>
            <a:ext cx="5010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4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Replay conditions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EB7D61-4513-41F0-87BD-03A6FE59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1943100"/>
            <a:ext cx="50387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4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Telemetry interpretation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4AB657-180D-43A5-82D3-F3F0441B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24175"/>
            <a:ext cx="48863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Recorded starting conditions</a:t>
            </a:r>
          </a:p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Disclosed dock wait and road assumptions</a:t>
            </a:r>
          </a:p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An independent scenario clock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DDEFFF-283D-4F2C-9893-D948FE8F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24175"/>
            <a:ext cx="49244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Duplicate samples do not double-count</a:t>
            </a:r>
          </a:p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Out-of-order samples retain history</a:t>
            </a:r>
          </a:p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Uncertain boundaries stay uncertain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DC6AAD-5225-41E5-96A6-0C859BBC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8165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Operational outcomes remain separate from modeled savings.</a:t>
            </a:r>
          </a:p>
        </p:txBody>
      </p:sp>
    </p:spTree>
    <p:extLst>
      <p:ext uri="{BB962C8B-B14F-4D97-AF65-F5344CB8AC3E}">
        <p14:creationId xmlns:p14="http://schemas.microsoft.com/office/powerpoint/2010/main" val="5156251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2026-09-10T22:29:42.5680000Z</dcterms:created>
  <dcterms:modified xsi:type="dcterms:W3CDTF">2026-09-10T22:29:42.5680000Z</dcterms:modified>
</coreProperties>
</file>