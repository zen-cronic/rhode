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54fb79eaf346eb" /><Relationship Type="http://schemas.openxmlformats.org/officeDocument/2006/relationships/extended-properties" Target="/docProps/app.xml" Id="Re77401616cbb467b" /><Relationship Type="http://schemas.openxmlformats.org/officeDocument/2006/relationships/officeDocument" Target="/ppt/presentation.xml" Id="R55b7a8b7904e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cf1d36a1d4f46"/>
  </p:sldMasterIdLst>
  <p:notesMasterIdLst>
    <p:notesMasterId xmlns:r="http://schemas.openxmlformats.org/officeDocument/2006/relationships" r:id="R2f4376c42a6d4248"/>
  </p:notesMasterIdLst>
  <p:sldIdLst>
    <p:sldId xmlns:r="http://schemas.openxmlformats.org/officeDocument/2006/relationships" id="256" r:id="R1e766043f1d54a34"/>
    <p:sldId xmlns:r="http://schemas.openxmlformats.org/officeDocument/2006/relationships" id="257" r:id="Rc97f4d94be834adb"/>
    <p:sldId xmlns:r="http://schemas.openxmlformats.org/officeDocument/2006/relationships" id="258" r:id="R479f24bc35c742f2"/>
    <p:sldId xmlns:r="http://schemas.openxmlformats.org/officeDocument/2006/relationships" id="259" r:id="R64c927bcc5b643ed"/>
    <p:sldId xmlns:r="http://schemas.openxmlformats.org/officeDocument/2006/relationships" id="260" r:id="R6c2e617993574eca"/>
    <p:sldId xmlns:r="http://schemas.openxmlformats.org/officeDocument/2006/relationships" id="261" r:id="Rb336c101aff746ce"/>
    <p:sldId xmlns:r="http://schemas.openxmlformats.org/officeDocument/2006/relationships" id="262" r:id="R8788ab124aec474c"/>
    <p:sldId xmlns:r="http://schemas.openxmlformats.org/officeDocument/2006/relationships" id="263" r:id="R7cfe72bdc54b474f"/>
    <p:sldId xmlns:r="http://schemas.openxmlformats.org/officeDocument/2006/relationships" id="264" r:id="Re114ce9dc9d24bd1"/>
    <p:sldId xmlns:r="http://schemas.openxmlformats.org/officeDocument/2006/relationships" id="265" r:id="R9973bf2d54e24d29"/>
    <p:sldId xmlns:r="http://schemas.openxmlformats.org/officeDocument/2006/relationships" id="266" r:id="Rcd2f8719bca341a0"/>
    <p:sldId xmlns:r="http://schemas.openxmlformats.org/officeDocument/2006/relationships" id="267" r:id="R10086aa5c4204556"/>
    <p:sldId xmlns:r="http://schemas.openxmlformats.org/officeDocument/2006/relationships" id="268" r:id="Rbd327a9df064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ee8ab536694169" /><Relationship Type="http://schemas.openxmlformats.org/officeDocument/2006/relationships/slideMaster" Target="/ppt/slideMasters/slideMaster1.xml" Id="R90ecf1d36a1d4f46" /><Relationship Type="http://schemas.openxmlformats.org/officeDocument/2006/relationships/notesMaster" Target="/ppt/notesMasters/notesMaster1.xml" Id="R2f4376c42a6d4248" /><Relationship Type="http://schemas.openxmlformats.org/officeDocument/2006/relationships/presProps" Target="/ppt/presProps.xml" Id="R12c0b8f5aeba48d3" /><Relationship Type="http://schemas.openxmlformats.org/officeDocument/2006/relationships/tableStyles" Target="/ppt/tableStyles.xml" Id="Rb8512cd6d7064ebc" /><Relationship Type="http://schemas.openxmlformats.org/officeDocument/2006/relationships/slide" Target="/ppt/slides/slide1.xml" Id="R1e766043f1d54a34" /><Relationship Type="http://schemas.openxmlformats.org/officeDocument/2006/relationships/slide" Target="/ppt/slides/slide2.xml" Id="Rc97f4d94be834adb" /><Relationship Type="http://schemas.openxmlformats.org/officeDocument/2006/relationships/slide" Target="/ppt/slides/slide3.xml" Id="R479f24bc35c742f2" /><Relationship Type="http://schemas.openxmlformats.org/officeDocument/2006/relationships/slide" Target="/ppt/slides/slide4.xml" Id="R64c927bcc5b643ed" /><Relationship Type="http://schemas.openxmlformats.org/officeDocument/2006/relationships/slide" Target="/ppt/slides/slide5.xml" Id="R6c2e617993574eca" /><Relationship Type="http://schemas.openxmlformats.org/officeDocument/2006/relationships/slide" Target="/ppt/slides/slide6.xml" Id="Rb336c101aff746ce" /><Relationship Type="http://schemas.openxmlformats.org/officeDocument/2006/relationships/slide" Target="/ppt/slides/slide7.xml" Id="R8788ab124aec474c" /><Relationship Type="http://schemas.openxmlformats.org/officeDocument/2006/relationships/slide" Target="/ppt/slides/slide8.xml" Id="R7cfe72bdc54b474f" /><Relationship Type="http://schemas.openxmlformats.org/officeDocument/2006/relationships/slide" Target="/ppt/slides/slide9.xml" Id="Re114ce9dc9d24bd1" /><Relationship Type="http://schemas.openxmlformats.org/officeDocument/2006/relationships/slide" Target="/ppt/slides/slide10.xml" Id="R9973bf2d54e24d29" /><Relationship Type="http://schemas.openxmlformats.org/officeDocument/2006/relationships/slide" Target="/ppt/slides/slide11.xml" Id="Rcd2f8719bca341a0" /><Relationship Type="http://schemas.openxmlformats.org/officeDocument/2006/relationships/slide" Target="/ppt/slides/slide12.xml" Id="R10086aa5c4204556" /><Relationship Type="http://schemas.openxmlformats.org/officeDocument/2006/relationships/slide" Target="/ppt/slides/slide13.xml" Id="Rbd327a9df064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b4d2b42e7442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0929c3da84585" /><Relationship Type="http://schemas.openxmlformats.org/officeDocument/2006/relationships/notesMaster" Target="/ppt/notesMasters/notesMaster1.xml" Id="Rfca1a0ba754b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75e441c0d4221" /><Relationship Type="http://schemas.openxmlformats.org/officeDocument/2006/relationships/notesMaster" Target="/ppt/notesMasters/notesMaster1.xml" Id="R67a66e8d4ccd45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0642ab37ab4175" /><Relationship Type="http://schemas.openxmlformats.org/officeDocument/2006/relationships/notesMaster" Target="/ppt/notesMasters/notesMaster1.xml" Id="R4c00bbf4304245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409e9ddc5f4801" /><Relationship Type="http://schemas.openxmlformats.org/officeDocument/2006/relationships/notesMaster" Target="/ppt/notesMasters/notesMaster1.xml" Id="Rda2c63f9686947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50228a048d4b43" /><Relationship Type="http://schemas.openxmlformats.org/officeDocument/2006/relationships/notesMaster" Target="/ppt/notesMasters/notesMaster1.xml" Id="Rcd74af99d5e941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117a37fe854247" /><Relationship Type="http://schemas.openxmlformats.org/officeDocument/2006/relationships/notesMaster" Target="/ppt/notesMasters/notesMaster1.xml" Id="R564cd0efa71140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4e1b68013342df" /><Relationship Type="http://schemas.openxmlformats.org/officeDocument/2006/relationships/notesMaster" Target="/ppt/notesMasters/notesMaster1.xml" Id="Rc651a0001f9343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e18cb5ff234290" /><Relationship Type="http://schemas.openxmlformats.org/officeDocument/2006/relationships/notesMaster" Target="/ppt/notesMasters/notesMaster1.xml" Id="R9ceeb233155940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7862a318294a80" /><Relationship Type="http://schemas.openxmlformats.org/officeDocument/2006/relationships/notesMaster" Target="/ppt/notesMasters/notesMaster1.xml" Id="Rd607c16ec8f441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86cbf6b6874769" /><Relationship Type="http://schemas.openxmlformats.org/officeDocument/2006/relationships/notesMaster" Target="/ppt/notesMasters/notesMaster1.xml" Id="R7d216ebef2ae44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0a7d593c084199" /><Relationship Type="http://schemas.openxmlformats.org/officeDocument/2006/relationships/notesMaster" Target="/ppt/notesMasters/notesMaster1.xml" Id="Ra7cb7dc2668b4f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224478b6a04b20" /><Relationship Type="http://schemas.openxmlformats.org/officeDocument/2006/relationships/notesMaster" Target="/ppt/notesMasters/notesMaster1.xml" Id="Rac3e7232404842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ac792011af48f1" /><Relationship Type="http://schemas.openxmlformats.org/officeDocument/2006/relationships/notesMaster" Target="/ppt/notesMasters/notesMaster1.xml" Id="R5372d73552804c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seconds. Introduce carrier dispatch recovery. Demonstration records are synthetic. Show actual app immediately after this opening. No customer records are published.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Explain a dispatcher coordinating resource commitments. This is a scenario, not an estimate of industry-wide cost or frequency.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 seconds. Switch to live cloud film-demo or downloaded recording. Record expected departure and inspect the affected next load. Sources: actual RoadStar cloud browser capture, docs/evidence/cloud-auth-smoke.json. Visual: September 10 design-film cloud recording, 01-dock-delay-end.png, exact disruption strip. 12:00 planned departure, 13:30 expected departure, 12:15 next pickup, ET. Final frozen web source: capture-final/delay-impact.png, expanded real delay record in design-final synthetic carrier, September 10 2026. Final v9 source: /tmp/roadstar-polish/final-capture/delay-impact.png, deployment 00017-bj6, design-polish-final carrier. Actual recorded delay; same 12:00 / 13:30 / 12:15 ET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 seconds. Show current assignment and proposed D02/T102/V102. Approval rechecks versions and availability, then commits reservations and driver offer atomically. Source: tests/postgres.test.ts and actual cloud recovery verification. Visual: exact modal frame at 16 seconds from the new design-film 02-recovery-approval recording. Actual proposal and approval API responses succeeded. Final frozen web source: capture-final/approval-review.png, exact displayed consequential approval dialog in design-final carrier. The capture precedes the explicit confirmation. Final v9 capture: /tmp/roadstar-polish/capture/approval-review.png. Current and proposed drivers and equipment are shown before confirmation. Driver acceptance is separate. Checks and assumptions remain available in the disclosure. Final v9 source supersedes previous frame: /tmp/roadstar-polish/final-capture/approval-review.png, deployment 00017-bj6. Same explicit current-to-proposed dialog before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 seconds. Native API35 Android emulator testing: Firebase login, offline acceptance, force-stop, restored session/downloaded trip/note/pending key, reconnect to accepted version2. Physical device background location and native iOS remain unverified. Current visual: actual September 10 Android API35 emulator Today screen. RS1043 accepted, pickup already completed, delivery is next. The screenshot does not claim a newly completed delivery or a new offline acceptance test. Density refresh: final native screenshot mobile/34-today-frozen.png, consistent RoadStar case and compact header. State remains accepted with delivery next. Final source freeze uses mobile/41-today-final.png. Compact one-row identity header and explicit synthetic scenario label. Original facility values remain unchanged underneath their shortened display labels. Final review-pass capture: mobile/56-today-frozen-review-pass.png. Same accepted trip state, pickup completed and delivery next; this capture is not new offline-acceptance verification. Final v9 capture supersedes the prior frame: mobile/60-today-density-final.png. Compact single-row header; accepted trip and delivery-next state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Show original synthetic PDF and reviewed fields. Source hash/model output retained. Same-stop arrival/departure samples and configured terms produce draft. Human approval retains draft and creates new revision; no payment. Source: docs/evidence/cloud-document-extraction.json and actual cloud billing capture. Visual: retained actual synthetic cloud billing panel, cropped to the stop record and draft/approved revisions without changing content. Density refresh source: cloud-current/web-billing-panel.png. Same approved revision and original draft, original amounts and observed precision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Real OR-Tools with Valhalla truck matrix produced two LTL pickups and two deliveries. Cloud planning-demo approved, accepted and completed global order. Three vehicle-resource reservations stay active until every load completes. Synthetic26-pallet allowance disclosed. Source: docs/evidence/cloud-planning-verification.json and tests/group-road.test.ts. Visual: retained actual planning-demo completed two-load, four-stop manifest in the redesigned UI. Density refresh source: cloud-current/web-completed-manifest.png. Same actual completed two-load/four-stop fixture.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seconds. Imported15197 rows locally only.82 exact duplicates in Dispatch. Source originals, missing fields and historical dates retained. No customer rows shown or uploaded. Source: docs/evidence/workbook-import.json.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seconds. Cloud Run Fastify owns state changes. Dedicated PG16/PostGIS owns truth; ORTools/Valhalla compute; Vertex extracts; independent simulator posts synthetic events. API accepts no AI approval. See infra/gcp/README.md and services/api/src/store.ts.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Do not claim complete legal HOS, guaranteed2s latency, realdevice/iOS or productioncapacity. Cloud benchmark524 telemetry+524syncpairs, no failures, ownacktosnapshotp955448ms. Real-road group integration separate enabled test. Source artifacts under docs/evidence.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seconds. Ask carrier to evaluate complete recovery workflow with permissioned operational input. Physicalhardwarecurrentlyunavailable. No invented customer adoption, measuredsavings or revenue. Full testinginstructions in local submission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120 seconds. Optional2 minutes. PostgreSQL btree_gist exclusion onresourceperiods. Commands have stableidempotencykey+expectedversion; staleproposal yields conflictbeforemutation. Per-carrier exclusivecommands sharedtelemetrytriplocks; eventinsertionlock ensurescommitordercursor. Explain rollback boundaries and carrier membership.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180 seconds. Optional3 minutes. Simulator actualroadroute, constantspeed/dockwaitassumptions. Identicalstartingconditionshash; scenario clocks neveroverwriteoperationtime. Duplicate/outoforder retained withoutdoublecount; entireaccuracydisc determinesinside/outside; uncertainboundarynotarrival. Benchmark burstbarrier/warmdataqualifiers.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RoadStar application captures where shown. Generated road sculpture is illustrative brand artwork, not geographic or route evidence. Design system: docs/design/precision-transport.md. Current check counts: 22 backend, 23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8e1dccfca49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896e2a69248be" /><Relationship Type="http://schemas.openxmlformats.org/officeDocument/2006/relationships/slideLayout" Target="/ppt/slideLayouts/slideLayout1.xml" Id="R08382bcaccff48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82bcaccff48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7f00789b4e21" /><Relationship Type="http://schemas.openxmlformats.org/officeDocument/2006/relationships/image" Target="/ppt/media/image.png" Id="R4a1d33ccf4ae4313" /><Relationship Type="http://schemas.openxmlformats.org/officeDocument/2006/relationships/image" Target="/ppt/media/image2.png" Id="Rd4eab1898fc84c72" /><Relationship Type="http://schemas.openxmlformats.org/officeDocument/2006/relationships/image" Target="/ppt/media/image.svg" Id="R010120eeaad54d85" /><Relationship Type="http://schemas.openxmlformats.org/officeDocument/2006/relationships/notesSlide" Target="/ppt/notesSlides/notesSlide1.xml" Id="Rcc5b07ad2a3f48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081bb9cc7448c" /><Relationship Type="http://schemas.openxmlformats.org/officeDocument/2006/relationships/notesSlide" Target="/ppt/notesSlides/notesSlide2.xml" Id="R45c8471693fb41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0c03751bd46a1" /><Relationship Type="http://schemas.openxmlformats.org/officeDocument/2006/relationships/image" Target="/ppt/media/image3.png" Id="Rd76223ac42c54725" /><Relationship Type="http://schemas.openxmlformats.org/officeDocument/2006/relationships/notesSlide" Target="/ppt/notesSlides/notesSlide3.xml" Id="R018f535317fc4b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65854f3b140db" /><Relationship Type="http://schemas.openxmlformats.org/officeDocument/2006/relationships/image" Target="/ppt/media/image4.png" Id="R133051b562b14b91" /><Relationship Type="http://schemas.openxmlformats.org/officeDocument/2006/relationships/notesSlide" Target="/ppt/notesSlides/notesSlide4.xml" Id="R76f206726c11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c56f25aa44369" /><Relationship Type="http://schemas.openxmlformats.org/officeDocument/2006/relationships/image" Target="/ppt/media/image5.png" Id="R0652395d9b5b4c91" /><Relationship Type="http://schemas.openxmlformats.org/officeDocument/2006/relationships/notesSlide" Target="/ppt/notesSlides/notesSlide5.xml" Id="R286edb26a768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f7d35e4314460" /><Relationship Type="http://schemas.openxmlformats.org/officeDocument/2006/relationships/image" Target="/ppt/media/image6.png" Id="R27b688d7a16248d0" /><Relationship Type="http://schemas.openxmlformats.org/officeDocument/2006/relationships/notesSlide" Target="/ppt/notesSlides/notesSlide6.xml" Id="R45820668c65948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d322375fe4507" /><Relationship Type="http://schemas.openxmlformats.org/officeDocument/2006/relationships/image" Target="/ppt/media/image7.png" Id="Rc0258a91507c4da3" /><Relationship Type="http://schemas.openxmlformats.org/officeDocument/2006/relationships/notesSlide" Target="/ppt/notesSlides/notesSlide7.xml" Id="R7a1e532c7c9243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7e141d5804d97" /><Relationship Type="http://schemas.openxmlformats.org/officeDocument/2006/relationships/notesSlide" Target="/ppt/notesSlides/notesSlide8.xml" Id="R6a1a3af1cfad48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d50dc337f4d8b" /><Relationship Type="http://schemas.openxmlformats.org/officeDocument/2006/relationships/notesSlide" Target="/ppt/notesSlides/notesSlide9.xml" Id="Rd0ca7358c48147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cd41337f64cdf" /><Relationship Type="http://schemas.openxmlformats.org/officeDocument/2006/relationships/notesSlide" Target="/ppt/notesSlides/notesSlide10.xml" Id="Rc1c007979bc14d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a9235250b41f4" /><Relationship Type="http://schemas.openxmlformats.org/officeDocument/2006/relationships/image" Target="/ppt/media/image8.png" Id="R2d06679150f247ac" /><Relationship Type="http://schemas.openxmlformats.org/officeDocument/2006/relationships/notesSlide" Target="/ppt/notesSlides/notesSlide11.xml" Id="R2808faed60414b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762d4f4bc4678" /><Relationship Type="http://schemas.openxmlformats.org/officeDocument/2006/relationships/notesSlide" Target="/ppt/notesSlides/notesSlide12.xml" Id="R9f1d2da5266f48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3b9a262ec43d1" /><Relationship Type="http://schemas.openxmlformats.org/officeDocument/2006/relationships/notesSlide" Target="/ppt/notesSlides/notesSlide13.xml" Id="Rf44567367c3e48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BF97B-8E14-4BE5-9431-DF00D506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d33ccf4ae431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ab1898fc84c72">
            <a:extLst>
              <a:ext uri="{96DAC541-7B7A-43D3-8B79-37D633B846F1}">
                <asvg:svgBlip xmlns:asvg="http://schemas.microsoft.com/office/drawing/2016/SVG/main" r:embed="R010120eeaad54d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933450"/>
            <a:ext cx="542925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2219-6D78-4F45-9FA9-B0C106F8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14375"/>
            <a:ext cx="5715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68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RoadStar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9E3ED-5BFD-4EF6-9892-87303D57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Dispatch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3A533-4D86-4D03-AA96-C907B8C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Carrier decisions. Driver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06127-03DF-4C49-A829-B6E8176F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RoadStar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391469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AEC41-0929-4FBF-934B-76E09201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1A644-B080-455C-8FB2-3C1C8753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A dock delay</a:t>
            </a:r>
          </a:p>
          <a:p xmlns:a="http://schemas.openxmlformats.org/drawingml/2006/main">
            <a:pPr>
              <a:defRPr sz="5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reaches the</a:t>
            </a:r>
          </a:p>
          <a:p xmlns:a="http://schemas.openxmlformats.org/drawingml/2006/main">
            <a:pPr>
              <a:defRPr sz="5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next pickup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9BB7E-C1EA-499D-928F-C0B996E1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dispatcher must reconnect the next assignment with available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02357-D0B2-4FBF-93C3-B911571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04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Dock delay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908F7-5DD3-48D3-8CA2-8AA2A17A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575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Next pickup</a:t>
            </a:r>
          </a:p>
        </p:txBody>
      </p:sp>
      <p:cxnSp>
        <p:nvCxnSpPr>
          <p:cNvPr id="15" name=""/>
          <p:cNvCxnSpPr>
            <a:stCxn xmlns:a="http://schemas.openxmlformats.org/drawingml/2006/main" id="4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96200" y="1838325"/>
            <a:ext cx="0" cy="15525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E65C3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97B8B-97F6-4FB1-A08F-56D7D35F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05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Current truck is still committed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88BDA-87A4-4149-B9CC-0F831F0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05250"/>
            <a:ext cx="295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Driver</a:t>
            </a:r>
          </a:p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Truck</a:t>
            </a:r>
          </a:p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Trailer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1A3D2-D42C-4981-947A-D513786E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9245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Illustrative dispatch scenario</a:t>
            </a:r>
          </a:p>
        </p:txBody>
      </p:sp>
    </p:spTree>
    <p:extLst>
      <p:ext uri="{BB962C8B-B14F-4D97-AF65-F5344CB8AC3E}">
        <p14:creationId xmlns:p14="http://schemas.microsoft.com/office/powerpoint/2010/main" val="147194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3B6EC-2044-483F-A510-09D1594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9CCFC-F352-4A91-9285-4D2C95F3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Recovery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9FA81-E5AD-436A-A6C6-DFC43152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477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delayed departure makes the next assignment visible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223ac42c54725"/>
          <a:stretch xmlns:a="http://schemas.openxmlformats.org/drawingml/2006/main"/>
        </p:blipFill>
        <p:spPr>
          <a:xfrm xmlns:a="http://schemas.openxmlformats.org/drawingml/2006/main">
            <a:off x="676275" y="2000250"/>
            <a:ext cx="10839450" cy="1676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A251C-CCBC-4183-9A64-E009BAF5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76700"/>
            <a:ext cx="3438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12:00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C324D-86BA-4A85-BE27-CE39904C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387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Planned departure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944CE-9979-4AEE-85BA-B577B601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76700"/>
            <a:ext cx="3438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13:30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BD3F2-5A6E-458D-ADF4-64892223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387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Expected departure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1F71-467B-4650-8BCB-943F9F99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3152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12:15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9C747-1435-444C-8062-3D33C992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387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Next pickup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81E5A-946F-4C3B-9A9E-F02253F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007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Synthetic scenario. Times in ET. Actual Ontario truck routing supports the recovery.</a:t>
            </a:r>
          </a:p>
        </p:txBody>
      </p:sp>
    </p:spTree>
    <p:extLst>
      <p:ext uri="{BB962C8B-B14F-4D97-AF65-F5344CB8AC3E}">
        <p14:creationId xmlns:p14="http://schemas.microsoft.com/office/powerpoint/2010/main" val="748814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9766A-F545-4986-B8A1-B3A0D47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E8ADF-B492-4022-B14C-F51F5696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Approval</a:t>
            </a:r>
          </a:p>
          <a:p xmlns:a="http://schemas.openxmlformats.org/drawingml/2006/main">
            <a:pPr>
              <a:defRPr sz="41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against current</a:t>
            </a:r>
          </a:p>
          <a:p xmlns:a="http://schemas.openxmlformats.org/drawingml/2006/main">
            <a:pPr>
              <a:defRPr sz="41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2F879-5468-42FB-B93D-DCF9B1BB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The server rechecks the proposal at the moment of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80338-1FC9-4115-B4D7-C67BB67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Versions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1EC0A-5237-4156-84B3-30E218DA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10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Availability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346C1-97B1-468F-AE9E-FBF18DEC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48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Atomic reservations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051b562b14b91"/>
          <a:stretch xmlns:a="http://schemas.openxmlformats.org/drawingml/2006/main"/>
        </p:blipFill>
        <p:spPr>
          <a:xfrm xmlns:a="http://schemas.openxmlformats.org/drawingml/2006/main">
            <a:off x="5600700" y="1028700"/>
            <a:ext cx="5905500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79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73A5A-8573-4AB2-A37C-18A791D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5739F-A1B6-429E-BD07-0D763E0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85800"/>
            <a:ext cx="666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472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The driver</a:t>
            </a:r>
          </a:p>
          <a:p xmlns:a="http://schemas.openxmlformats.org/drawingml/2006/main">
            <a:pPr>
              <a:defRPr sz="472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472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keeps the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E91F1-6DC1-4660-8276-5216C73F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336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Acceptance stays visible through an offline interruption.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83B18-A2F2-4CE1-91A4-DFFC240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67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B8CCD-E095-4DB8-86B3-C3864DF0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67150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Pending while offline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F7747-68A9-4820-A5F5-7E144A46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91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F7208-C1AF-478F-B3D7-6C5109CA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59105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Trip and draft survive termination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1D67E-A707-4D5F-825A-88AA2DA3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F05A8-225C-48D9-953B-4AFE629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3149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Server confirms the command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2395d9b5b4c91"/>
          <a:stretch xmlns:a="http://schemas.openxmlformats.org/drawingml/2006/main"/>
        </p:blipFill>
        <p:spPr>
          <a:xfrm xmlns:a="http://schemas.openxmlformats.org/drawingml/2006/main">
            <a:off x="7946708" y="266700"/>
            <a:ext cx="2794635" cy="6210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2BD01-9397-4177-A944-B31BB89E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Android emulator verified. Physical phone and native iOS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791486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433FC-244A-4B66-93C3-BBF626F7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6CFF2-9AC4-4D6F-B3FC-C7846C35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Documents and detention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A139C-DB07-4CBD-804D-9BF6EDB7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763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reviewed revision keeps the original draft in view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688d7a16248d0"/>
          <a:stretch xmlns:a="http://schemas.openxmlformats.org/drawingml/2006/main"/>
        </p:blipFill>
        <p:spPr>
          <a:xfrm xmlns:a="http://schemas.openxmlformats.org/drawingml/2006/main">
            <a:off x="836768" y="2085975"/>
            <a:ext cx="10518464" cy="4057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2285A-C8DA-4238-9B64-1ABCF2BD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982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Observed samples require review. Billing approval does not initiate payment.</a:t>
            </a:r>
          </a:p>
        </p:txBody>
      </p:sp>
    </p:spTree>
    <p:extLst>
      <p:ext uri="{BB962C8B-B14F-4D97-AF65-F5344CB8AC3E}">
        <p14:creationId xmlns:p14="http://schemas.microsoft.com/office/powerpoint/2010/main" val="1859985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EB2C8-06A2-4232-9DEE-C8B0E353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DCD63-8CA7-4B07-AA8C-478EE81C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619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660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2 loads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86074-1E5C-4250-83B3-6C81E30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571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4 ordered stops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95069-763C-4640-AE01-19B4510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One vehicle pairing</a:t>
            </a:r>
          </a:p>
          <a:p xmlns:a="http://schemas.openxmlformats.org/drawingml/2006/main">
            <a:pPr>
              <a:defRPr sz="22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One approval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58a91507c4da3"/>
          <a:stretch xmlns:a="http://schemas.openxmlformats.org/drawingml/2006/main"/>
        </p:blipFill>
        <p:spPr>
          <a:xfrm xmlns:a="http://schemas.openxmlformats.org/drawingml/2006/main">
            <a:off x="6000750" y="920413"/>
            <a:ext cx="5667375" cy="498859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32409-1DA2-4688-A44A-142A9A97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Reservations stay active until every load completes.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BD1CC-5363-4441-88DB-0BB63BE5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Synthetic pallet capacity disclosed</a:t>
            </a:r>
          </a:p>
        </p:txBody>
      </p:sp>
    </p:spTree>
    <p:extLst>
      <p:ext uri="{BB962C8B-B14F-4D97-AF65-F5344CB8AC3E}">
        <p14:creationId xmlns:p14="http://schemas.microsoft.com/office/powerpoint/2010/main" val="1921805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ACE43-2190-4242-AB81-7DF36791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ADBE7-6F29-4CC7-B398-FE8E99D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All five sheets retain lineage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C01D8-3F47-47D6-95C5-2615C20B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42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02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802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15,197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CA784-523F-43B6-B176-82B78391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1947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source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815C2-0907-4915-9189-78630BB9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19600"/>
            <a:ext cx="600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01C8E-A2B2-4DFD-AE30-459974A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474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exact Dispatch duplicates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F9176-538A-4080-80E0-8A54981B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863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Historical provenance preserved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Private source data stays local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467475" y="1714500"/>
          <a:ext xmlns:a="http://schemas.openxmlformats.org/drawingml/2006/main" cx="50292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859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666962"/>
                          </a:solidFill>
                          <a:latin typeface="Manrope"/>
                          <a:ea typeface="Manrope"/>
                          <a:cs typeface="Manrope"/>
                        </a:rPr>
                        <a:t>Sheet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F5F3ED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666962"/>
                          </a:solidFill>
                          <a:latin typeface="Manrope"/>
                          <a:ea typeface="Manrope"/>
                          <a:cs typeface="Manrope"/>
                        </a:rPr>
                        <a:t>Rows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F5F3ED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Tlorder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4,031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Dispatch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10,479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Driver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131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Trucks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131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Trailers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F5F3ED"/>
                      </a:solidFill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425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F5F3ED"/>
                      </a:solidFill>
                    </a:lnB>
                    <a:solidFill>
                      <a:srgbClr val="F5F3ED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AEF7D-62CE-4354-A356-8936AF94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0077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Public preview uses labeled synthetic operational scenarios.</a:t>
            </a:r>
          </a:p>
        </p:txBody>
      </p:sp>
    </p:spTree>
    <p:extLst>
      <p:ext uri="{BB962C8B-B14F-4D97-AF65-F5344CB8AC3E}">
        <p14:creationId xmlns:p14="http://schemas.microsoft.com/office/powerpoint/2010/main" val="202498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C069A-5D48-4EA3-9DDB-69692A39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3FB03-DB43-4EED-AD5D-F1FEC97D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One operational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2A8C5-8907-43B2-9DD3-150707CE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CLIENTS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73545-BB5C-4CA1-A52C-52488E21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14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C0801-E5D6-4AE2-8615-C9E76C9F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14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D4BE9-4718-45A1-873E-F18C8D6F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Web + 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CE4FF-4D5C-441B-A48B-878A4E16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676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Fastify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2BE57-627E-40E2-AB78-F2EC7EBA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81375" y="2781300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962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67575" y="278130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65C3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E6069-F79E-4C8B-BA0A-E177BC41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React dispatcher UI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Expo driver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F30E5-3907-4CE0-BB27-07C70DD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90900"/>
            <a:ext cx="3238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Firebase identity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Carrier membership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Validated 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2BFBC-9E23-471D-8A1A-E1F6EEE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9090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Versions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Reservations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8AB9D-E072-462B-AE14-25137AB1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57775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D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36440-4196-4B1A-9BC9-F641B52D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PROPOSALS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54771-FC42-48B7-BF96-811EDAB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DOCUMENT 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4B40D-2275-4266-A02A-CEAEB017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OR-Tools + Valhalla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E5647-939F-4AA6-9FDA-74CCD274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292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Gemini extraction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02044-38D2-404D-8EDB-1C15E29C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007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Independent replay clock · Approval remains an explicit command.</a:t>
            </a:r>
          </a:p>
        </p:txBody>
      </p:sp>
    </p:spTree>
    <p:extLst>
      <p:ext uri="{BB962C8B-B14F-4D97-AF65-F5344CB8AC3E}">
        <p14:creationId xmlns:p14="http://schemas.microsoft.com/office/powerpoint/2010/main" val="1502727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42D03-F424-4AF8-8408-12FDB74E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6C6AC-0058-47EA-899D-C968C71F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Measured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65952-645D-4651-9109-09BF728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90675"/>
            <a:ext cx="62579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5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95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5.4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FDD06-9E1C-4212-8270-B78E12CA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6143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p95 acknowledgement-to-snapshot lag</a:t>
            </a:r>
          </a:p>
          <a:p xmlns:a="http://schemas.openxmlformats.org/drawingml/2006/main">
            <a:pPr>
              <a:defRPr sz="21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in the 131-driver cloud burst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0193B-C4D8-43C4-9DC3-85D8C027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669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65C32"/>
                </a:solidFill>
                <a:latin typeface="Manrope"/>
                <a:ea typeface="Manrope"/>
                <a:cs typeface="Manrope"/>
              </a:defRPr>
            </a:pPr>
            <a:r>
              <a:rPr sz="4950" b="1">
                <a:solidFill>
                  <a:srgbClr val="E65C32"/>
                </a:solidFill>
                <a:latin typeface="Manrope"/>
                <a:ea typeface="Manrope"/>
                <a:cs typeface="Manrope"/>
              </a:rPr>
              <a:t>524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3C185-7849-47B6-BEFC-C284798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3524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telemetry + synchronization pairs</a:t>
            </a:r>
          </a:p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Zero failed commands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45FF2-B137-4862-BF84-B52D2409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63055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22 backend checks</a:t>
            </a:r>
          </a:p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23 mobile checks</a:t>
            </a:r>
          </a:p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Real-road integration verified separately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F3AE4-9A03-4794-98C4-C18D5089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95825"/>
            <a:ext cx="3514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Physical background location and native iOS still need testing.</a:t>
            </a:r>
          </a:p>
          <a:p xmlns:a="http://schemas.openxmlformats.org/drawingml/2006/main">
            <a:pPr>
              <a:defRPr sz="172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Declared duty budgets are not a certified ELD.</a:t>
            </a:r>
          </a:p>
        </p:txBody>
      </p:sp>
    </p:spTree>
    <p:extLst>
      <p:ext uri="{BB962C8B-B14F-4D97-AF65-F5344CB8AC3E}">
        <p14:creationId xmlns:p14="http://schemas.microsoft.com/office/powerpoint/2010/main" val="1898114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E70DC-F184-4CD5-8C58-E16757A7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6679150f247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DE611-F8D4-4FE5-9123-A1CEC2C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6750"/>
            <a:ext cx="6858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95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Next carrier</a:t>
            </a:r>
          </a:p>
          <a:p xmlns:a="http://schemas.openxmlformats.org/drawingml/2006/main">
            <a:pPr>
              <a:defRPr sz="495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95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2DF1C-E3B1-4257-9E58-3889E49C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90875"/>
            <a:ext cx="5857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Physical device validation</a:t>
            </a:r>
          </a:p>
          <a:p xmlns:a="http://schemas.openxmlformats.org/drawingml/2006/main">
            <a:pPr>
              <a:defRPr sz="2025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Carrier inputs and facility review</a:t>
            </a:r>
          </a:p>
          <a:p xmlns:a="http://schemas.openxmlformats.org/drawingml/2006/main">
            <a:pPr>
              <a:defRPr sz="2025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Measured dispatcher and driver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4058C-2FFB-4914-A23B-C94F6D3D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roadstar-web-739889188415.us-central1.run.app</a:t>
            </a:r>
          </a:p>
        </p:txBody>
      </p:sp>
    </p:spTree>
    <p:extLst>
      <p:ext uri="{BB962C8B-B14F-4D97-AF65-F5344CB8AC3E}">
        <p14:creationId xmlns:p14="http://schemas.microsoft.com/office/powerpoint/2010/main" val="8629558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97FB7-EDB2-4820-99A0-FBEBA89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24385-2A9D-4FC3-A2D4-3C299138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Concurrent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AA66E-25B0-4C6A-8168-316AB340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stable command key and expected version protect the same intent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7ADC-2401-42B7-A090-B6F5EED9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Command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799FD-2AF4-4B1D-A8F2-D29F4CBB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Recheck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FB0FB-A3A3-4287-846B-77190F22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Commit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24200" y="2895600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CDDD5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81850" y="28956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65C32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1F8C2-8357-4F42-9DEF-34830270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Identity and version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Stable idempotency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4A9F1-52BD-4344-B098-F700C05B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09975"/>
            <a:ext cx="3324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Current availability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Resource exclusion 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7D420-94A6-4FC6-BD06-ED13ED3C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28860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Atomic reservations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Commit-ordered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2FB1D-5B26-42E3-B597-F5A5CA0F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stale proposal conflicts before mutation. A repeated key returns its original result.</a:t>
            </a:r>
          </a:p>
        </p:txBody>
      </p:sp>
    </p:spTree>
    <p:extLst>
      <p:ext uri="{BB962C8B-B14F-4D97-AF65-F5344CB8AC3E}">
        <p14:creationId xmlns:p14="http://schemas.microsoft.com/office/powerpoint/2010/main" val="732918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71D1D-15E0-4D92-A742-C88F4834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F808E-966C-4F30-A11C-C082E44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Replay and telemetry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8842C-3E3C-4617-BCA0-41BD7507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501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Replay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BAC46-1C1C-4938-B47C-D1BA3691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943100"/>
            <a:ext cx="5038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Telemetry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DFB2E-2589-49D7-9957-6DBA1852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24175"/>
            <a:ext cx="48863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Recorded starting conditions</a:t>
            </a:r>
          </a:p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Disclosed dock wait and road assumptions</a:t>
            </a:r>
          </a:p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An independent scenario 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E3C5D-F8B7-4092-9184-1C19186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24175"/>
            <a:ext cx="49244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Duplicate samples do not double-count</a:t>
            </a:r>
          </a:p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Out-of-order samples retain history</a:t>
            </a:r>
          </a:p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Uncertain boundaries stay uncertain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2C7E3-0465-4169-964E-FAAB9503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Operational outcomes remain separate from modeled savings.</a:t>
            </a:r>
          </a:p>
        </p:txBody>
      </p:sp>
    </p:spTree>
    <p:extLst>
      <p:ext uri="{BB962C8B-B14F-4D97-AF65-F5344CB8AC3E}">
        <p14:creationId xmlns:p14="http://schemas.microsoft.com/office/powerpoint/2010/main" val="1140872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2026-09-11T01:19:33.3640000Z</dcterms:created>
  <dcterms:modified xsi:type="dcterms:W3CDTF">2026-09-11T01:19:33.3640000Z</dcterms:modified>
</coreProperties>
</file>